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0"/>
            <a:ext cx="2926080" cy="6858000"/>
          </a:xfrm>
          <a:prstGeom prst="rect">
            <a:avLst/>
          </a:prstGeom>
          <a:solidFill>
            <a:srgbClr val="0E7C73">
              <a:alpha val="88000"/>
            </a:srgbClr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75720" y="0"/>
            <a:ext cx="146304" cy="6858000"/>
          </a:xfrm>
          <a:prstGeom prst="rect">
            <a:avLst/>
          </a:prstGeom>
          <a:solidFill>
            <a:srgbClr val="34B3A0"/>
          </a:solidFill>
          <a:ln w="9525">
            <a:solidFill>
              <a:srgbClr val="34B3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713232"/>
            <a:ext cx="2194560" cy="0"/>
          </a:xfrm>
          <a:prstGeom prst="line">
            <a:avLst/>
          </a:prstGeom>
          <a:noFill/>
          <a:ln w="13970">
            <a:solidFill>
              <a:srgbClr val="34B3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754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7863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B8D8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 2 | ROADMAP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CogniVault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594360" y="272491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4B3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Medical AI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367588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9E7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12-month growth plan: product-market fit, clinical GTM, team, budget, funding and execution roadmap.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892040"/>
            <a:ext cx="1783080" cy="713232"/>
          </a:xfrm>
          <a:prstGeom prst="rect">
            <a:avLst/>
          </a:prstGeom>
          <a:solidFill>
            <a:srgbClr val="152934"/>
          </a:solidFill>
          <a:ln w="9525">
            <a:solidFill>
              <a:srgbClr val="315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50017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8096" y="52852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paying clinics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88336" y="4892040"/>
            <a:ext cx="1783080" cy="713232"/>
          </a:xfrm>
          <a:prstGeom prst="rect">
            <a:avLst/>
          </a:prstGeom>
          <a:solidFill>
            <a:srgbClr val="152934"/>
          </a:solidFill>
          <a:ln w="9525">
            <a:solidFill>
              <a:srgbClr val="3150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50017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150K EUR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816352" y="52852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 target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36592" y="4892040"/>
            <a:ext cx="1783080" cy="713232"/>
          </a:xfrm>
          <a:prstGeom prst="rect">
            <a:avLst/>
          </a:prstGeom>
          <a:solidFill>
            <a:srgbClr val="152934"/>
          </a:solidFill>
          <a:ln w="9525">
            <a:solidFill>
              <a:srgbClr val="3150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50017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255K EUR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64608" y="52852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12-month budget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84848" y="4892040"/>
            <a:ext cx="1783080" cy="713232"/>
          </a:xfrm>
          <a:prstGeom prst="rect">
            <a:avLst/>
          </a:prstGeom>
          <a:solidFill>
            <a:srgbClr val="152934"/>
          </a:solidFill>
          <a:ln w="9525">
            <a:solidFill>
              <a:srgbClr val="3150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12864" y="50017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12864" y="52852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team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623620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8D8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submission deadline: 24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 | STRATEGIC OBJECTIVE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core thesis to prove in 12 months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1155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value proposition from Deliverable 1 is translated into measurable Year-1 targets.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A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6528816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 | Deliverable 2 Roadmap | 23 May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627632"/>
            <a:ext cx="11018520" cy="1170432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627632"/>
            <a:ext cx="100584" cy="1170432"/>
          </a:xfrm>
          <a:prstGeom prst="rect">
            <a:avLst/>
          </a:prstGeom>
          <a:solidFill>
            <a:srgbClr val="34B3A0"/>
          </a:solidFill>
          <a:ln w="9525">
            <a:solidFill>
              <a:srgbClr val="34B3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783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OBJECTIVE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41248" y="2029968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 20 paying clinic customers in Turkey, prove PMF for a KVKK-compliant multi-channel clinical AI intake platform, and reach a 150K EUR ARR run-rate.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3090672"/>
            <a:ext cx="254203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090672"/>
            <a:ext cx="73152" cy="960120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2095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7C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95528" y="35935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paying clinics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5528" y="3813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SaaS + success-fee mix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55848" y="3090672"/>
            <a:ext cx="254203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55848" y="3090672"/>
            <a:ext cx="73152" cy="960120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7016" y="32095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87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150K EUR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557016" y="35935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 target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57016" y="3813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run-rate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17336" y="3090672"/>
            <a:ext cx="254203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17336" y="3090672"/>
            <a:ext cx="73152" cy="960120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8504" y="32095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5C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NPS 40+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318504" y="35935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satisfaction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18504" y="3813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+ reception team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878824" y="3090672"/>
            <a:ext cx="254203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8824" y="3090672"/>
            <a:ext cx="73152" cy="960120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79992" y="32095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079992" y="35935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079992" y="3813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 and recovered opportunities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4360" y="4498848"/>
            <a:ext cx="345643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4498848"/>
            <a:ext cx="3456432" cy="41148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" y="468172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Model Proof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95528" y="49651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24/7 multilingual medical receptionist converts patient inquiries from WhatsApp, phone, web and forms into booked appointments.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4306824" y="4498848"/>
            <a:ext cx="345643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06824" y="4498848"/>
            <a:ext cx="3456432" cy="41148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07992" y="468172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Beachhead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07992" y="49651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focuses on dental, aesthetics, hair transplant and IVF clinics, starting with digitally ready private clinics.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8019288" y="4498848"/>
            <a:ext cx="345643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19288" y="4498848"/>
            <a:ext cx="3456432" cy="41148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0456" y="468172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Mechanism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20456" y="49651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Shadow Mode, doctor approval and KVKK-ready infrastructure enable a safe transition for clinics and reduce error risk.</a:t>
            </a:r>
            <a:endParaRPr lang="en-US" sz="9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 | KEY OBJECTIVES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objectives, each tied to a measurable finish 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1155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objectives align product, market, team and capital work into one 12-month operating rhythm.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A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6528816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 | Deliverable 2 Roadmap | 23 May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2152498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72768"/>
            <a:ext cx="2152498" cy="704088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007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965960"/>
            <a:ext cx="18781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1878178" cy="585216"/>
          </a:xfrm>
          <a:prstGeom prst="rect">
            <a:avLst/>
          </a:prstGeom>
          <a:solidFill>
            <a:srgbClr val="E1F3EF"/>
          </a:solidFill>
          <a:ln w="9525">
            <a:solidFill>
              <a:srgbClr val="E1F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542032"/>
            <a:ext cx="1658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PMF signal across 5 pilot clinics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667512" y="32918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1033272" y="327355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discovery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67512" y="359359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7947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1033272" y="377647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pilot onboarding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67512" y="409651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2976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033272" y="427939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paid pilots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67512" y="459943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480060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M4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1033272" y="478231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NPS 40+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667512" y="510235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530352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M5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1033272" y="528523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ROI case study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67512" y="560527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65146" y="1572768"/>
            <a:ext cx="2152498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65146" y="1572768"/>
            <a:ext cx="2152498" cy="704088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02306" y="17007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902306" y="1965960"/>
            <a:ext cx="18781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902306" y="2468880"/>
            <a:ext cx="1878178" cy="585216"/>
          </a:xfrm>
          <a:prstGeom prst="rect">
            <a:avLst/>
          </a:prstGeom>
          <a:solidFill>
            <a:srgbClr val="E5EEF8"/>
          </a:solidFill>
          <a:ln w="9525">
            <a:solidFill>
              <a:srgbClr val="E5EE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2034" y="2542032"/>
            <a:ext cx="1658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Production-grade multi-channel AI intake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2929738" y="32918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3295498" y="327355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 + Twilio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2929738" y="359359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9738" y="37947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3295498" y="377647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Idempotency + tests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2929738" y="409651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9738" y="42976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3295498" y="427939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Multi-tenancy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2929738" y="459943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9738" y="480060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M4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3295498" y="478231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KVKK + DPA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2929738" y="510235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9738" y="530352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M5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3295498" y="528523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EHR/HIS live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2929738" y="560527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27371" y="1572768"/>
            <a:ext cx="2152498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7371" y="1572768"/>
            <a:ext cx="2152498" cy="704088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64531" y="17007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164531" y="1965960"/>
            <a:ext cx="18781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5164531" y="2468880"/>
            <a:ext cx="1878178" cy="585216"/>
          </a:xfrm>
          <a:prstGeom prst="rect">
            <a:avLst/>
          </a:prstGeom>
          <a:solidFill>
            <a:srgbClr val="F7EBD3"/>
          </a:solidFill>
          <a:ln w="9525">
            <a:solidFill>
              <a:srgbClr val="F7EBD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74259" y="2542032"/>
            <a:ext cx="1658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paying clinics / 150K EUR ARR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5191963" y="32918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5557723" y="327355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ICP + 200 lead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5191963" y="359359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91963" y="37947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</a:t>
            </a:r>
            <a:endParaRPr lang="en-US" sz="740" dirty="0"/>
          </a:p>
        </p:txBody>
      </p:sp>
      <p:sp>
        <p:nvSpPr>
          <p:cNvPr id="61" name="Text 59"/>
          <p:cNvSpPr/>
          <p:nvPr/>
        </p:nvSpPr>
        <p:spPr>
          <a:xfrm>
            <a:off x="5557723" y="377647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sales channels</a:t>
            </a:r>
            <a:endParaRPr lang="en-US" sz="860" dirty="0"/>
          </a:p>
        </p:txBody>
      </p:sp>
      <p:sp>
        <p:nvSpPr>
          <p:cNvPr id="62" name="Shape 60"/>
          <p:cNvSpPr/>
          <p:nvPr/>
        </p:nvSpPr>
        <p:spPr>
          <a:xfrm>
            <a:off x="5191963" y="409651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91963" y="42976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5557723" y="427939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customers</a:t>
            </a:r>
            <a:endParaRPr lang="en-US" sz="860" dirty="0"/>
          </a:p>
        </p:txBody>
      </p:sp>
      <p:sp>
        <p:nvSpPr>
          <p:cNvPr id="65" name="Shape 63"/>
          <p:cNvSpPr/>
          <p:nvPr/>
        </p:nvSpPr>
        <p:spPr>
          <a:xfrm>
            <a:off x="5191963" y="459943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91963" y="480060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M4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5557723" y="478231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 partner</a:t>
            </a:r>
            <a:endParaRPr lang="en-US" sz="860" dirty="0"/>
          </a:p>
        </p:txBody>
      </p:sp>
      <p:sp>
        <p:nvSpPr>
          <p:cNvPr id="68" name="Shape 66"/>
          <p:cNvSpPr/>
          <p:nvPr/>
        </p:nvSpPr>
        <p:spPr>
          <a:xfrm>
            <a:off x="5191963" y="510235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91963" y="530352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M5</a:t>
            </a:r>
            <a:endParaRPr lang="en-US" sz="740" dirty="0"/>
          </a:p>
        </p:txBody>
      </p:sp>
      <p:sp>
        <p:nvSpPr>
          <p:cNvPr id="70" name="Text 68"/>
          <p:cNvSpPr/>
          <p:nvPr/>
        </p:nvSpPr>
        <p:spPr>
          <a:xfrm>
            <a:off x="5557723" y="528523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customers</a:t>
            </a:r>
            <a:endParaRPr lang="en-US" sz="860" dirty="0"/>
          </a:p>
        </p:txBody>
      </p:sp>
      <p:sp>
        <p:nvSpPr>
          <p:cNvPr id="71" name="Shape 69"/>
          <p:cNvSpPr/>
          <p:nvPr/>
        </p:nvSpPr>
        <p:spPr>
          <a:xfrm>
            <a:off x="5191963" y="560527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89597" y="1572768"/>
            <a:ext cx="2152498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289597" y="1572768"/>
            <a:ext cx="2152498" cy="704088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26757" y="17007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7426757" y="1965960"/>
            <a:ext cx="18781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&amp; Ops</a:t>
            </a:r>
            <a:endParaRPr lang="en-US" sz="1250" dirty="0"/>
          </a:p>
        </p:txBody>
      </p:sp>
      <p:sp>
        <p:nvSpPr>
          <p:cNvPr id="76" name="Shape 74"/>
          <p:cNvSpPr/>
          <p:nvPr/>
        </p:nvSpPr>
        <p:spPr>
          <a:xfrm>
            <a:off x="7426757" y="2468880"/>
            <a:ext cx="1878178" cy="585216"/>
          </a:xfrm>
          <a:prstGeom prst="rect">
            <a:avLst/>
          </a:prstGeom>
          <a:solidFill>
            <a:srgbClr val="ECE8FA"/>
          </a:solidFill>
          <a:ln w="9525">
            <a:solidFill>
              <a:srgbClr val="ECE8F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36485" y="2542032"/>
            <a:ext cx="1658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7-person core team + SOPs</a:t>
            </a:r>
            <a:endParaRPr lang="en-US" sz="920" dirty="0"/>
          </a:p>
        </p:txBody>
      </p:sp>
      <p:sp>
        <p:nvSpPr>
          <p:cNvPr id="78" name="Text 76"/>
          <p:cNvSpPr/>
          <p:nvPr/>
        </p:nvSpPr>
        <p:spPr>
          <a:xfrm>
            <a:off x="7454189" y="32918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</a:t>
            </a:r>
            <a:endParaRPr lang="en-US" sz="740" dirty="0"/>
          </a:p>
        </p:txBody>
      </p:sp>
      <p:sp>
        <p:nvSpPr>
          <p:cNvPr id="79" name="Text 77"/>
          <p:cNvSpPr/>
          <p:nvPr/>
        </p:nvSpPr>
        <p:spPr>
          <a:xfrm>
            <a:off x="7819949" y="327355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hire</a:t>
            </a:r>
            <a:endParaRPr lang="en-US" sz="860" dirty="0"/>
          </a:p>
        </p:txBody>
      </p:sp>
      <p:sp>
        <p:nvSpPr>
          <p:cNvPr id="80" name="Shape 78"/>
          <p:cNvSpPr/>
          <p:nvPr/>
        </p:nvSpPr>
        <p:spPr>
          <a:xfrm>
            <a:off x="7454189" y="359359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54189" y="37947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7819949" y="377647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ML/AI + CS</a:t>
            </a:r>
            <a:endParaRPr lang="en-US" sz="860" dirty="0"/>
          </a:p>
        </p:txBody>
      </p:sp>
      <p:sp>
        <p:nvSpPr>
          <p:cNvPr id="83" name="Shape 81"/>
          <p:cNvSpPr/>
          <p:nvPr/>
        </p:nvSpPr>
        <p:spPr>
          <a:xfrm>
            <a:off x="7454189" y="409651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54189" y="42976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7819949" y="427939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 SOP</a:t>
            </a:r>
            <a:endParaRPr lang="en-US" sz="860" dirty="0"/>
          </a:p>
        </p:txBody>
      </p:sp>
      <p:sp>
        <p:nvSpPr>
          <p:cNvPr id="86" name="Shape 84"/>
          <p:cNvSpPr/>
          <p:nvPr/>
        </p:nvSpPr>
        <p:spPr>
          <a:xfrm>
            <a:off x="7454189" y="459943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454189" y="480060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M4</a:t>
            </a:r>
            <a:endParaRPr lang="en-US" sz="740" dirty="0"/>
          </a:p>
        </p:txBody>
      </p:sp>
      <p:sp>
        <p:nvSpPr>
          <p:cNvPr id="88" name="Text 86"/>
          <p:cNvSpPr/>
          <p:nvPr/>
        </p:nvSpPr>
        <p:spPr>
          <a:xfrm>
            <a:off x="7819949" y="478231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hire</a:t>
            </a:r>
            <a:endParaRPr lang="en-US" sz="860" dirty="0"/>
          </a:p>
        </p:txBody>
      </p:sp>
      <p:sp>
        <p:nvSpPr>
          <p:cNvPr id="89" name="Shape 87"/>
          <p:cNvSpPr/>
          <p:nvPr/>
        </p:nvSpPr>
        <p:spPr>
          <a:xfrm>
            <a:off x="7454189" y="510235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454189" y="530352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M5</a:t>
            </a:r>
            <a:endParaRPr lang="en-US" sz="740" dirty="0"/>
          </a:p>
        </p:txBody>
      </p:sp>
      <p:sp>
        <p:nvSpPr>
          <p:cNvPr id="91" name="Text 89"/>
          <p:cNvSpPr/>
          <p:nvPr/>
        </p:nvSpPr>
        <p:spPr>
          <a:xfrm>
            <a:off x="7819949" y="528523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core team</a:t>
            </a:r>
            <a:endParaRPr lang="en-US" sz="860" dirty="0"/>
          </a:p>
        </p:txBody>
      </p:sp>
      <p:sp>
        <p:nvSpPr>
          <p:cNvPr id="92" name="Shape 90"/>
          <p:cNvSpPr/>
          <p:nvPr/>
        </p:nvSpPr>
        <p:spPr>
          <a:xfrm>
            <a:off x="7454189" y="560527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551822" y="1572768"/>
            <a:ext cx="2152498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551822" y="1572768"/>
            <a:ext cx="2152498" cy="704088"/>
          </a:xfrm>
          <a:prstGeom prst="rect">
            <a:avLst/>
          </a:prstGeom>
          <a:solidFill>
            <a:srgbClr val="2F8F5B"/>
          </a:solidFill>
          <a:ln w="9525">
            <a:solidFill>
              <a:srgbClr val="2F8F5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688982" y="17007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9688982" y="1965960"/>
            <a:ext cx="18781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 &amp; Compliance</a:t>
            </a:r>
            <a:endParaRPr lang="en-US" sz="1250" dirty="0"/>
          </a:p>
        </p:txBody>
      </p:sp>
      <p:sp>
        <p:nvSpPr>
          <p:cNvPr id="97" name="Shape 95"/>
          <p:cNvSpPr/>
          <p:nvPr/>
        </p:nvSpPr>
        <p:spPr>
          <a:xfrm>
            <a:off x="9688982" y="2468880"/>
            <a:ext cx="1878178" cy="585216"/>
          </a:xfrm>
          <a:prstGeom prst="rect">
            <a:avLst/>
          </a:prstGeom>
          <a:solidFill>
            <a:srgbClr val="E4F0E8"/>
          </a:solidFill>
          <a:ln w="9525">
            <a:solidFill>
              <a:srgbClr val="E4F0E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798710" y="2542032"/>
            <a:ext cx="1658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grant, KVKK, ISO readiness, pre-seed</a:t>
            </a:r>
            <a:endParaRPr lang="en-US" sz="920" dirty="0"/>
          </a:p>
        </p:txBody>
      </p:sp>
      <p:sp>
        <p:nvSpPr>
          <p:cNvPr id="99" name="Text 97"/>
          <p:cNvSpPr/>
          <p:nvPr/>
        </p:nvSpPr>
        <p:spPr>
          <a:xfrm>
            <a:off x="9716414" y="32918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F8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</a:t>
            </a:r>
            <a:endParaRPr lang="en-US" sz="740" dirty="0"/>
          </a:p>
        </p:txBody>
      </p:sp>
      <p:sp>
        <p:nvSpPr>
          <p:cNvPr id="100" name="Text 98"/>
          <p:cNvSpPr/>
          <p:nvPr/>
        </p:nvSpPr>
        <p:spPr>
          <a:xfrm>
            <a:off x="10082174" y="327355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grant</a:t>
            </a:r>
            <a:endParaRPr lang="en-US" sz="860" dirty="0"/>
          </a:p>
        </p:txBody>
      </p:sp>
      <p:sp>
        <p:nvSpPr>
          <p:cNvPr id="101" name="Shape 99"/>
          <p:cNvSpPr/>
          <p:nvPr/>
        </p:nvSpPr>
        <p:spPr>
          <a:xfrm>
            <a:off x="9716414" y="359359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716414" y="37947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F8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</a:t>
            </a:r>
            <a:endParaRPr lang="en-US" sz="740" dirty="0"/>
          </a:p>
        </p:txBody>
      </p:sp>
      <p:sp>
        <p:nvSpPr>
          <p:cNvPr id="103" name="Text 101"/>
          <p:cNvSpPr/>
          <p:nvPr/>
        </p:nvSpPr>
        <p:spPr>
          <a:xfrm>
            <a:off x="10082174" y="377647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VERBIS + privacy</a:t>
            </a:r>
            <a:endParaRPr lang="en-US" sz="860" dirty="0"/>
          </a:p>
        </p:txBody>
      </p:sp>
      <p:sp>
        <p:nvSpPr>
          <p:cNvPr id="104" name="Shape 102"/>
          <p:cNvSpPr/>
          <p:nvPr/>
        </p:nvSpPr>
        <p:spPr>
          <a:xfrm>
            <a:off x="9716414" y="409651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716414" y="42976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F8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</a:t>
            </a:r>
            <a:endParaRPr lang="en-US" sz="740" dirty="0"/>
          </a:p>
        </p:txBody>
      </p:sp>
      <p:sp>
        <p:nvSpPr>
          <p:cNvPr id="106" name="Text 104"/>
          <p:cNvSpPr/>
          <p:nvPr/>
        </p:nvSpPr>
        <p:spPr>
          <a:xfrm>
            <a:off x="10082174" y="427939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investor meetings</a:t>
            </a:r>
            <a:endParaRPr lang="en-US" sz="860" dirty="0"/>
          </a:p>
        </p:txBody>
      </p:sp>
      <p:sp>
        <p:nvSpPr>
          <p:cNvPr id="107" name="Shape 105"/>
          <p:cNvSpPr/>
          <p:nvPr/>
        </p:nvSpPr>
        <p:spPr>
          <a:xfrm>
            <a:off x="9716414" y="459943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716414" y="480060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F8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M4</a:t>
            </a:r>
            <a:endParaRPr lang="en-US" sz="740" dirty="0"/>
          </a:p>
        </p:txBody>
      </p:sp>
      <p:sp>
        <p:nvSpPr>
          <p:cNvPr id="109" name="Text 107"/>
          <p:cNvSpPr/>
          <p:nvPr/>
        </p:nvSpPr>
        <p:spPr>
          <a:xfrm>
            <a:off x="10082174" y="478231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27001 start</a:t>
            </a:r>
            <a:endParaRPr lang="en-US" sz="860" dirty="0"/>
          </a:p>
        </p:txBody>
      </p:sp>
      <p:sp>
        <p:nvSpPr>
          <p:cNvPr id="110" name="Shape 108"/>
          <p:cNvSpPr/>
          <p:nvPr/>
        </p:nvSpPr>
        <p:spPr>
          <a:xfrm>
            <a:off x="9716414" y="510235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716414" y="530352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F8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M5</a:t>
            </a:r>
            <a:endParaRPr lang="en-US" sz="740" dirty="0"/>
          </a:p>
        </p:txBody>
      </p:sp>
      <p:sp>
        <p:nvSpPr>
          <p:cNvPr id="112" name="Text 110"/>
          <p:cNvSpPr/>
          <p:nvPr/>
        </p:nvSpPr>
        <p:spPr>
          <a:xfrm>
            <a:off x="10082174" y="5285232"/>
            <a:ext cx="1475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500K EUR close</a:t>
            </a:r>
            <a:endParaRPr lang="en-US" sz="860" dirty="0"/>
          </a:p>
        </p:txBody>
      </p:sp>
      <p:sp>
        <p:nvSpPr>
          <p:cNvPr id="113" name="Shape 111"/>
          <p:cNvSpPr/>
          <p:nvPr/>
        </p:nvSpPr>
        <p:spPr>
          <a:xfrm>
            <a:off x="9716414" y="5605272"/>
            <a:ext cx="1823314" cy="0"/>
          </a:xfrm>
          <a:prstGeom prst="line">
            <a:avLst/>
          </a:prstGeom>
          <a:noFill/>
          <a:ln w="5715">
            <a:solidFill>
              <a:srgbClr val="DAD5C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 | MILESTONE LOGIC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Monthly progress is staged from PMF to scalable execution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1155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quarter converts the previous risk into proof and feeds the next growth step.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A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6528816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 | Deliverable 2 Roadmap | 23 May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2542032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600200"/>
            <a:ext cx="2542032" cy="69494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71907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1728216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58952" y="20482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AF6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May-Jun-Jul 2026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2633472"/>
            <a:ext cx="100584" cy="10058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discovery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200400"/>
            <a:ext cx="100584" cy="10058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" y="31272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ICP + 200 lead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3767328"/>
            <a:ext cx="100584" cy="10058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" y="36941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WhatsApp/Twilio prod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334256"/>
            <a:ext cx="100584" cy="10058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426110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hire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" y="4901184"/>
            <a:ext cx="100584" cy="10058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" y="48280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grant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64992" y="1600200"/>
            <a:ext cx="2542032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64992" y="1600200"/>
            <a:ext cx="2542032" cy="69494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9584" y="171907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050792" y="1728216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to Paid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29584" y="20482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AF6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Aug-Sep-Oct 2026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547872" y="2633472"/>
            <a:ext cx="100584" cy="10058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67328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pilot live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547872" y="3200400"/>
            <a:ext cx="100584" cy="10058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67328" y="31272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paid pilots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47872" y="3767328"/>
            <a:ext cx="100584" cy="10058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36941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10-customer target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47872" y="4334256"/>
            <a:ext cx="100584" cy="10058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67328" y="426110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ML/AI + CS hire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47872" y="4901184"/>
            <a:ext cx="100584" cy="10058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67328" y="48280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SOPs live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35624" y="1600200"/>
            <a:ext cx="2542032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35624" y="1600200"/>
            <a:ext cx="2542032" cy="69494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0216" y="171907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821424" y="1728216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Proof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300216" y="20482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AF6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Nov-Dec-Jan 2027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18504" y="2633472"/>
            <a:ext cx="100584" cy="10058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NPS 40+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18504" y="3200400"/>
            <a:ext cx="100584" cy="10058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31272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case study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18504" y="3767328"/>
            <a:ext cx="100584" cy="10058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36941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 partner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18504" y="4334256"/>
            <a:ext cx="100584" cy="10058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426110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EHR/HIS integration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18504" y="4901184"/>
            <a:ext cx="100584" cy="10058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37960" y="48280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hire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906256" y="1600200"/>
            <a:ext cx="2542032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06256" y="1600200"/>
            <a:ext cx="2542032" cy="69494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70848" y="171907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9592056" y="1728216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Fundable Scale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9070848" y="20482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AF6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Feb-Mar-Apr 2027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089136" y="2633472"/>
            <a:ext cx="100584" cy="10058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08592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customers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089136" y="3200400"/>
            <a:ext cx="100584" cy="10058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08592" y="31272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150K EUR ARR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089136" y="3767328"/>
            <a:ext cx="100584" cy="10058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08592" y="36941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27001 start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089136" y="4334256"/>
            <a:ext cx="100584" cy="10058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308592" y="426110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core team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089136" y="4901184"/>
            <a:ext cx="100584" cy="10058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308592" y="48280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500K EUR pre-seed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94360" y="6254496"/>
            <a:ext cx="11018520" cy="91440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 | CAPABILITIES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 blocks that carry the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1155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capability model is structured around Product, Market &amp; Sales, and Team &amp; Operations.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A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6528816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 | Deliverable 2 Roadmap | 23 May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572768"/>
            <a:ext cx="1874520" cy="502920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737360"/>
            <a:ext cx="1655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spc="120" kern="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2468880" y="1572768"/>
            <a:ext cx="3063240" cy="502920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737360"/>
            <a:ext cx="2843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CAPABILITY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5532120" y="1572768"/>
            <a:ext cx="3063240" cy="502920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41848" y="1737360"/>
            <a:ext cx="2843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&amp; SALES CAPABILITY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8595360" y="1572768"/>
            <a:ext cx="3063240" cy="502920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05088" y="1737360"/>
            <a:ext cx="2843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&amp; OPERATIONS CAPABILITY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594360" y="2075688"/>
            <a:ext cx="187452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075688"/>
            <a:ext cx="73152" cy="950976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2368296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Foundation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2075688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15184" y="2221992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 Cloud + Twilio voice webhooks, signature verification, idempotency table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532120" y="2075688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78424" y="2221992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discovery interviews, 5 pilot-candidate list, BiGG grant closing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595360" y="2075688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41664" y="2221992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hire, KVKK advisory, dev/staging separation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594360" y="3026664"/>
            <a:ext cx="187452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026664"/>
            <a:ext cx="73152" cy="950976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" y="3319272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Pilot to Paid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68880" y="3026664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15184" y="3172968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Multi-tenancy, workflow builder, golden scenario test suite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532120" y="3026664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78424" y="3172968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paid pilots and an outbound funnel toward 10 customers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8595360" y="3026664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41664" y="3172968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ML/AI engineer + CS hire, onboarding/support SOP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594360" y="3977640"/>
            <a:ext cx="187452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3977640"/>
            <a:ext cx="73152" cy="950976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" y="4270248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Scale Proof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68880" y="3977640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15184" y="4123944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EHR/HIS integration, analytics and ROI reporting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5532120" y="3977640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78424" y="4123944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clinic chain or channel partner, health-tourism segment launch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8595360" y="3977640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41664" y="4123944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hire, partner onboarding ve incident response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594360" y="4928616"/>
            <a:ext cx="187452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4928616"/>
            <a:ext cx="73152" cy="950976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952" y="5221224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Fundable Scale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468880" y="4928616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15184" y="507492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27001 process, audit report, advanced dashboard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5532120" y="4928616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78424" y="507492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customers, 150K EUR ARR, reference and case-study engine</a:t>
            </a:r>
            <a:endParaRPr lang="en-US" sz="930" dirty="0"/>
          </a:p>
        </p:txBody>
      </p:sp>
      <p:sp>
        <p:nvSpPr>
          <p:cNvPr id="51" name="Shape 49"/>
          <p:cNvSpPr/>
          <p:nvPr/>
        </p:nvSpPr>
        <p:spPr>
          <a:xfrm>
            <a:off x="8595360" y="4928616"/>
            <a:ext cx="306324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41664" y="507492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core team, pre-seed investor process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 BRIDGE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business model is connected to a clinical sales motion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1155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Year-1 focus: high-urgency, WhatsApp-first clinics where missed patient demand has a visible cost.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A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6528816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 | Deliverable 2 Roadmap | 23 May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664208"/>
            <a:ext cx="23317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1874520"/>
            <a:ext cx="402336" cy="402336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97510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" y="24505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0392" y="28163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Dental, aesthetics, hair transplant and IVF clinics; Nişantaşı, Şişli and Antalya corridor.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017520" y="2633472"/>
            <a:ext cx="411480" cy="0"/>
          </a:xfrm>
          <a:prstGeom prst="line">
            <a:avLst/>
          </a:prstGeom>
          <a:noFill/>
          <a:ln w="15240">
            <a:solidFill>
              <a:srgbClr val="6A7B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3337560" y="2569464"/>
            <a:ext cx="146304" cy="146304"/>
          </a:xfrm>
          <a:prstGeom prst="triangle">
            <a:avLst/>
          </a:prstGeom>
          <a:solidFill>
            <a:srgbClr val="6A7B86"/>
          </a:solidFill>
          <a:ln w="12700">
            <a:solidFill>
              <a:srgbClr val="6A7B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1664208"/>
            <a:ext cx="23317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93592" y="1874520"/>
            <a:ext cx="402336" cy="402336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93592" y="197510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93592" y="24505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Capture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93592" y="28163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Ads + WhatsApp + phone inquiries; missed-lead reports for nights and weekends.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760720" y="2633472"/>
            <a:ext cx="411480" cy="0"/>
          </a:xfrm>
          <a:prstGeom prst="line">
            <a:avLst/>
          </a:prstGeom>
          <a:noFill/>
          <a:ln w="15240">
            <a:solidFill>
              <a:srgbClr val="6A7B8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5400000">
            <a:off x="6080760" y="2569464"/>
            <a:ext cx="146304" cy="146304"/>
          </a:xfrm>
          <a:prstGeom prst="triangle">
            <a:avLst/>
          </a:prstGeom>
          <a:solidFill>
            <a:srgbClr val="6A7B86"/>
          </a:solidFill>
          <a:ln w="12700">
            <a:solidFill>
              <a:srgbClr val="6A7B8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664208"/>
            <a:ext cx="23317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1874520"/>
            <a:ext cx="402336" cy="402336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197510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36792" y="24505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Onboarding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36792" y="28163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month in Shadow Mode: human supervision, doctor approval and error minimization.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503920" y="2633472"/>
            <a:ext cx="411480" cy="0"/>
          </a:xfrm>
          <a:prstGeom prst="line">
            <a:avLst/>
          </a:prstGeom>
          <a:noFill/>
          <a:ln w="15240">
            <a:solidFill>
              <a:srgbClr val="6A7B8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5400000">
            <a:off x="8823960" y="2569464"/>
            <a:ext cx="146304" cy="146304"/>
          </a:xfrm>
          <a:prstGeom prst="triangle">
            <a:avLst/>
          </a:prstGeom>
          <a:solidFill>
            <a:srgbClr val="6A7B86"/>
          </a:solidFill>
          <a:ln w="12700">
            <a:solidFill>
              <a:srgbClr val="6A7B8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15400" y="1664208"/>
            <a:ext cx="23317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79992" y="1874520"/>
            <a:ext cx="402336" cy="402336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79992" y="197510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079992" y="24505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Expansion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079992" y="28163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Starter/Growth/Enterprise SaaS, success fees and multi-branch clinic upsell.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85800" y="4160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 path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920240" y="4096512"/>
            <a:ext cx="208483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57400" y="4261104"/>
            <a:ext cx="530352" cy="256032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57400" y="428853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057400" y="45994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0-5 pilots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057400" y="485546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4261104" y="4096512"/>
            <a:ext cx="208483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98264" y="4261104"/>
            <a:ext cx="530352" cy="256032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98264" y="428853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398264" y="45994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customers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398264" y="485546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repeatability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6601968" y="4096512"/>
            <a:ext cx="208483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39128" y="4261104"/>
            <a:ext cx="530352" cy="256032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39128" y="428853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739128" y="45994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customers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739128" y="485546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leverage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8942832" y="4096512"/>
            <a:ext cx="208483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79992" y="4261104"/>
            <a:ext cx="530352" cy="256032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79992" y="428853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9079992" y="45994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customers / 150K EUR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9079992" y="485546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Fundable scale</a:t>
            </a:r>
            <a:endParaRPr lang="en-US" sz="840" dirty="0"/>
          </a:p>
        </p:txBody>
      </p:sp>
      <p:sp>
        <p:nvSpPr>
          <p:cNvPr id="56" name="Text 54"/>
          <p:cNvSpPr/>
          <p:nvPr/>
        </p:nvSpPr>
        <p:spPr>
          <a:xfrm>
            <a:off x="731520" y="58338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the 150K EUR ARR target depends on SaaS packages, enterprise mix and success-fee revenue from high-value treatments maturing together.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 | BUDGET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12-month resource plan: 255,000 EUR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1155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budget is phased to reduce PMF risk first, then scale sales and compliance.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A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6528816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 | Deliverable 2 Roadmap | 23 May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6583680" cy="438912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746504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120" kern="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LINE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5715000" y="1746504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b="1" spc="120" kern="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594360" y="2039112"/>
            <a:ext cx="6583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039112"/>
            <a:ext cx="73152" cy="676656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148840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Personnel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5528" y="240487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5-7 person team, salaries, insurance and part-time expert support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5394960" y="22219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180,000 EUR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2715768"/>
            <a:ext cx="6583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715768"/>
            <a:ext cx="73152" cy="676656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2825496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Equipment &amp; Software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95528" y="30815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API, Twilio, cloud, monitoring, security tooling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5394960" y="28986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35,000 EUR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4360" y="3392424"/>
            <a:ext cx="6583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392424"/>
            <a:ext cx="73152" cy="676656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3502152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Subcontracting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95528" y="375818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KVKK legal work, ISO readiness, UI/UX and medical advisory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5394960" y="35753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18,000 EUR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" y="4069080"/>
            <a:ext cx="6583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4069080"/>
            <a:ext cx="73152" cy="676656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4178808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5528" y="443484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sales, events, clinic visits and marketing tests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5394960" y="42519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14,000 EUR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4360" y="4745736"/>
            <a:ext cx="6583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4745736"/>
            <a:ext cx="73152" cy="676656"/>
          </a:xfrm>
          <a:prstGeom prst="rect">
            <a:avLst/>
          </a:prstGeom>
          <a:solidFill>
            <a:srgbClr val="2F8F5B"/>
          </a:solidFill>
          <a:ln w="9525">
            <a:solidFill>
              <a:srgbClr val="2F8F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4855464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Consumables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95528" y="511149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Office, devices, test lines and operational supplies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5394960" y="49286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8,000 EUR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94360" y="5513832"/>
            <a:ext cx="6583680" cy="502920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" y="5696712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03520" y="56418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255,000 EUR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543800" y="160020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 phasing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543800" y="1965960"/>
            <a:ext cx="37033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08392" y="2148840"/>
            <a:ext cx="502920" cy="256032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08392" y="217627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330184" y="2084832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grant + founder bridge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330184" y="23134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Funds PMF work and pilot infrastructure.</a:t>
            </a:r>
            <a:endParaRPr lang="en-US" sz="810" dirty="0"/>
          </a:p>
        </p:txBody>
      </p:sp>
      <p:sp>
        <p:nvSpPr>
          <p:cNvPr id="46" name="Shape 44"/>
          <p:cNvSpPr/>
          <p:nvPr/>
        </p:nvSpPr>
        <p:spPr>
          <a:xfrm>
            <a:off x="7543800" y="2788920"/>
            <a:ext cx="37033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08392" y="2971800"/>
            <a:ext cx="502920" cy="256032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08392" y="299923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330184" y="2907792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revenue + bridge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30184" y="313639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pilots and operational SOPs are proven.</a:t>
            </a:r>
            <a:endParaRPr lang="en-US" sz="810" dirty="0"/>
          </a:p>
        </p:txBody>
      </p:sp>
      <p:sp>
        <p:nvSpPr>
          <p:cNvPr id="51" name="Shape 49"/>
          <p:cNvSpPr/>
          <p:nvPr/>
        </p:nvSpPr>
        <p:spPr>
          <a:xfrm>
            <a:off x="7543800" y="3611880"/>
            <a:ext cx="37033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08392" y="3794760"/>
            <a:ext cx="502920" cy="256032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08392" y="38221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330184" y="3730752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readiness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330184" y="39593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studies, NPS, EHR and partner proof are prepared.</a:t>
            </a:r>
            <a:endParaRPr lang="en-US" sz="810" dirty="0"/>
          </a:p>
        </p:txBody>
      </p:sp>
      <p:sp>
        <p:nvSpPr>
          <p:cNvPr id="56" name="Shape 54"/>
          <p:cNvSpPr/>
          <p:nvPr/>
        </p:nvSpPr>
        <p:spPr>
          <a:xfrm>
            <a:off x="7543800" y="4434840"/>
            <a:ext cx="37033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08392" y="4617720"/>
            <a:ext cx="502920" cy="256032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08392" y="46451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330184" y="4553712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500K EUR pre-seed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330184" y="47823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closing is targeted with 20 customers and 150K EUR ARR.</a:t>
            </a:r>
            <a:endParaRPr lang="en-US" sz="8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 STRATEGY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BiGG grant funds PMF; the pre-seed round funds scale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1155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external capital plan is not a one-off fundraising ask; it is a financing ladder unlocked by measurable traction gates.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A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6528816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 | Deliverable 2 Roadmap | 23 May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2487168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600200"/>
            <a:ext cx="2487168" cy="658368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7465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17373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+ founder bridge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25603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7C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600K TL + bridge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1248" y="3072384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841248" y="327355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hardening, 25 discovery interviews and first pilot infrastructure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41248" y="3913632"/>
            <a:ext cx="1993392" cy="0"/>
          </a:xfrm>
          <a:prstGeom prst="line">
            <a:avLst/>
          </a:prstGeom>
          <a:noFill/>
          <a:ln w="8255">
            <a:solidFill>
              <a:srgbClr val="DAD5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11480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gate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841248" y="43159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pilot candidates and a prod-ready WhatsApp/Twilio flow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127248" y="3511296"/>
            <a:ext cx="301752" cy="0"/>
          </a:xfrm>
          <a:prstGeom prst="line">
            <a:avLst/>
          </a:prstGeom>
          <a:noFill/>
          <a:ln w="13970">
            <a:solidFill>
              <a:srgbClr val="6A7B8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5400000">
            <a:off x="3346704" y="3447288"/>
            <a:ext cx="146304" cy="146304"/>
          </a:xfrm>
          <a:prstGeom prst="triangle">
            <a:avLst/>
          </a:prstGeom>
          <a:solidFill>
            <a:srgbClr val="6A7B86"/>
          </a:solidFill>
          <a:ln w="12700">
            <a:solidFill>
              <a:srgbClr val="6A7B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1600200"/>
            <a:ext cx="2487168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1600200"/>
            <a:ext cx="2487168" cy="658368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17465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69080" y="17373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revenue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30168" y="25603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55C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paid pilots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3630168" y="3072384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3630168" y="327355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success, clinic onboarding and SOP setup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30168" y="3913632"/>
            <a:ext cx="1993392" cy="0"/>
          </a:xfrm>
          <a:prstGeom prst="line">
            <a:avLst/>
          </a:prstGeom>
          <a:noFill/>
          <a:ln w="8255">
            <a:solidFill>
              <a:srgbClr val="DAD5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411480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gate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3630168" y="43159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funnel toward 10 paying customers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916168" y="3511296"/>
            <a:ext cx="301752" cy="0"/>
          </a:xfrm>
          <a:prstGeom prst="line">
            <a:avLst/>
          </a:prstGeom>
          <a:noFill/>
          <a:ln w="13970">
            <a:solidFill>
              <a:srgbClr val="6A7B8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5400000">
            <a:off x="6135624" y="3447288"/>
            <a:ext cx="146304" cy="146304"/>
          </a:xfrm>
          <a:prstGeom prst="triangle">
            <a:avLst/>
          </a:prstGeom>
          <a:solidFill>
            <a:srgbClr val="6A7B86"/>
          </a:solidFill>
          <a:ln w="12700">
            <a:solidFill>
              <a:srgbClr val="6A7B8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1600200"/>
            <a:ext cx="2487168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1600200"/>
            <a:ext cx="2487168" cy="658368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17465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17373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readiness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19088" y="25603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987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investor meetingsings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6419088" y="3072384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6419088" y="327355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NPS, ROI case studies, partner proof and EHR/HIS proof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19088" y="3913632"/>
            <a:ext cx="1993392" cy="0"/>
          </a:xfrm>
          <a:prstGeom prst="line">
            <a:avLst/>
          </a:prstGeom>
          <a:noFill/>
          <a:ln w="8255">
            <a:solidFill>
              <a:srgbClr val="DAD5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411480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gate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6419088" y="43159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case studies + NPS 40+ + first channel partner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705088" y="3511296"/>
            <a:ext cx="301752" cy="0"/>
          </a:xfrm>
          <a:prstGeom prst="line">
            <a:avLst/>
          </a:prstGeom>
          <a:noFill/>
          <a:ln w="13970">
            <a:solidFill>
              <a:srgbClr val="6A7B8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5400000">
            <a:off x="8924544" y="3447288"/>
            <a:ext cx="146304" cy="146304"/>
          </a:xfrm>
          <a:prstGeom prst="triangle">
            <a:avLst/>
          </a:prstGeom>
          <a:solidFill>
            <a:srgbClr val="6A7B86"/>
          </a:solidFill>
          <a:ln w="12700">
            <a:solidFill>
              <a:srgbClr val="6A7B8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06840" y="1600200"/>
            <a:ext cx="2487168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06840" y="1600200"/>
            <a:ext cx="2487168" cy="658368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71432" y="17465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646920" y="17373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Pre-seed close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208008" y="25603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500K EUR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9208008" y="3072384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740" dirty="0"/>
          </a:p>
        </p:txBody>
      </p:sp>
      <p:sp>
        <p:nvSpPr>
          <p:cNvPr id="51" name="Text 49"/>
          <p:cNvSpPr/>
          <p:nvPr/>
        </p:nvSpPr>
        <p:spPr>
          <a:xfrm>
            <a:off x="9208008" y="327355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team, ISO 27001 process and enterprise scale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208008" y="3913632"/>
            <a:ext cx="1993392" cy="0"/>
          </a:xfrm>
          <a:prstGeom prst="line">
            <a:avLst/>
          </a:prstGeom>
          <a:noFill/>
          <a:ln w="8255">
            <a:solidFill>
              <a:srgbClr val="DAD5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08008" y="411480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gate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9208008" y="43159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customers + 150K EUR ARR run-rate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685800" y="5806440"/>
            <a:ext cx="10789920" cy="420624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32688" y="5952744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story: first prove PMF and trust in the clinical intake category, then raise external capital to scale sales and compliance.</a:t>
            </a:r>
            <a:endParaRPr lang="en-US" sz="9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 | 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May 2026 - April 2027 execution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1155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swimlane structure places objectives, product, market, team, and finance/compliance work on the same calendar.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A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6528816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 | Deliverable 2 Roadmap | 23 May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1536192"/>
            <a:ext cx="850392" cy="438912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91640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20" kern="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LANE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141732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1732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640" dirty="0"/>
          </a:p>
        </p:txBody>
      </p:sp>
      <p:sp>
        <p:nvSpPr>
          <p:cNvPr id="14" name="Shape 12"/>
          <p:cNvSpPr/>
          <p:nvPr/>
        </p:nvSpPr>
        <p:spPr>
          <a:xfrm>
            <a:off x="225933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5933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5933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640" dirty="0"/>
          </a:p>
        </p:txBody>
      </p:sp>
      <p:sp>
        <p:nvSpPr>
          <p:cNvPr id="17" name="Shape 15"/>
          <p:cNvSpPr/>
          <p:nvPr/>
        </p:nvSpPr>
        <p:spPr>
          <a:xfrm>
            <a:off x="310134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134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134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640" dirty="0"/>
          </a:p>
        </p:txBody>
      </p:sp>
      <p:sp>
        <p:nvSpPr>
          <p:cNvPr id="20" name="Shape 18"/>
          <p:cNvSpPr/>
          <p:nvPr/>
        </p:nvSpPr>
        <p:spPr>
          <a:xfrm>
            <a:off x="394335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4335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94335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478536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536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8536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640" dirty="0"/>
          </a:p>
        </p:txBody>
      </p:sp>
      <p:sp>
        <p:nvSpPr>
          <p:cNvPr id="26" name="Shape 24"/>
          <p:cNvSpPr/>
          <p:nvPr/>
        </p:nvSpPr>
        <p:spPr>
          <a:xfrm>
            <a:off x="562737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737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2737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640" dirty="0"/>
          </a:p>
        </p:txBody>
      </p:sp>
      <p:sp>
        <p:nvSpPr>
          <p:cNvPr id="29" name="Shape 27"/>
          <p:cNvSpPr/>
          <p:nvPr/>
        </p:nvSpPr>
        <p:spPr>
          <a:xfrm>
            <a:off x="646938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938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6938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640" dirty="0"/>
          </a:p>
        </p:txBody>
      </p:sp>
      <p:sp>
        <p:nvSpPr>
          <p:cNvPr id="32" name="Shape 30"/>
          <p:cNvSpPr/>
          <p:nvPr/>
        </p:nvSpPr>
        <p:spPr>
          <a:xfrm>
            <a:off x="731139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139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139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815340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5340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5340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2027</a:t>
            </a:r>
            <a:endParaRPr lang="en-US" sz="640" dirty="0"/>
          </a:p>
        </p:txBody>
      </p:sp>
      <p:sp>
        <p:nvSpPr>
          <p:cNvPr id="38" name="Shape 36"/>
          <p:cNvSpPr/>
          <p:nvPr/>
        </p:nvSpPr>
        <p:spPr>
          <a:xfrm>
            <a:off x="899541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9541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99541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2027</a:t>
            </a:r>
            <a:endParaRPr lang="en-US" sz="640" dirty="0"/>
          </a:p>
        </p:txBody>
      </p:sp>
      <p:sp>
        <p:nvSpPr>
          <p:cNvPr id="41" name="Shape 39"/>
          <p:cNvSpPr/>
          <p:nvPr/>
        </p:nvSpPr>
        <p:spPr>
          <a:xfrm>
            <a:off x="983742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3742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83742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2027</a:t>
            </a:r>
            <a:endParaRPr lang="en-US" sz="640" dirty="0"/>
          </a:p>
        </p:txBody>
      </p:sp>
      <p:sp>
        <p:nvSpPr>
          <p:cNvPr id="44" name="Shape 42"/>
          <p:cNvSpPr/>
          <p:nvPr/>
        </p:nvSpPr>
        <p:spPr>
          <a:xfrm>
            <a:off x="10679430" y="1536192"/>
            <a:ext cx="842010" cy="438912"/>
          </a:xfrm>
          <a:prstGeom prst="rect">
            <a:avLst/>
          </a:prstGeom>
          <a:solidFill>
            <a:srgbClr val="0E1A22"/>
          </a:solidFill>
          <a:ln w="5715">
            <a:solidFill>
              <a:srgbClr val="2436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79430" y="1645920"/>
            <a:ext cx="84201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679430" y="1801368"/>
            <a:ext cx="84201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2027</a:t>
            </a:r>
            <a:endParaRPr lang="en-US" sz="640" dirty="0"/>
          </a:p>
        </p:txBody>
      </p:sp>
      <p:sp>
        <p:nvSpPr>
          <p:cNvPr id="47" name="Shape 45"/>
          <p:cNvSpPr/>
          <p:nvPr/>
        </p:nvSpPr>
        <p:spPr>
          <a:xfrm>
            <a:off x="566928" y="1975104"/>
            <a:ext cx="8503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" y="1975104"/>
            <a:ext cx="73152" cy="749808"/>
          </a:xfrm>
          <a:prstGeom prst="rect">
            <a:avLst/>
          </a:prstGeom>
          <a:solidFill>
            <a:srgbClr val="10202A"/>
          </a:solidFill>
          <a:ln w="9525">
            <a:solidFill>
              <a:srgbClr val="1020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" y="225856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1417320" y="1975104"/>
            <a:ext cx="101041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25933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10134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94335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8536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2737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6938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1139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5340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9541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83742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679430" y="1975104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449324" y="2048256"/>
            <a:ext cx="2462022" cy="603504"/>
          </a:xfrm>
          <a:prstGeom prst="rect">
            <a:avLst/>
          </a:prstGeom>
          <a:solidFill>
            <a:srgbClr val="10202A">
              <a:alpha val="92000"/>
            </a:srgbClr>
          </a:solidFill>
          <a:ln w="9525">
            <a:solidFill>
              <a:srgbClr val="10202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04188" y="2084832"/>
            <a:ext cx="23522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770" dirty="0"/>
          </a:p>
        </p:txBody>
      </p:sp>
      <p:sp>
        <p:nvSpPr>
          <p:cNvPr id="64" name="Shape 62"/>
          <p:cNvSpPr/>
          <p:nvPr/>
        </p:nvSpPr>
        <p:spPr>
          <a:xfrm>
            <a:off x="3975354" y="2048256"/>
            <a:ext cx="2462022" cy="603504"/>
          </a:xfrm>
          <a:prstGeom prst="rect">
            <a:avLst/>
          </a:prstGeom>
          <a:solidFill>
            <a:srgbClr val="10202A">
              <a:alpha val="92000"/>
            </a:srgbClr>
          </a:solidFill>
          <a:ln w="9525">
            <a:solidFill>
              <a:srgbClr val="1020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30218" y="2084832"/>
            <a:ext cx="23522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pilots</a:t>
            </a:r>
            <a:endParaRPr lang="en-US" sz="770" dirty="0"/>
          </a:p>
        </p:txBody>
      </p:sp>
      <p:sp>
        <p:nvSpPr>
          <p:cNvPr id="66" name="Shape 64"/>
          <p:cNvSpPr/>
          <p:nvPr/>
        </p:nvSpPr>
        <p:spPr>
          <a:xfrm>
            <a:off x="6501384" y="2048256"/>
            <a:ext cx="2462022" cy="603504"/>
          </a:xfrm>
          <a:prstGeom prst="rect">
            <a:avLst/>
          </a:prstGeom>
          <a:solidFill>
            <a:srgbClr val="10202A">
              <a:alpha val="92000"/>
            </a:srgbClr>
          </a:solidFill>
          <a:ln w="9525">
            <a:solidFill>
              <a:srgbClr val="10202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56248" y="2084832"/>
            <a:ext cx="23522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proof</a:t>
            </a:r>
            <a:endParaRPr lang="en-US" sz="770" dirty="0"/>
          </a:p>
        </p:txBody>
      </p:sp>
      <p:sp>
        <p:nvSpPr>
          <p:cNvPr id="68" name="Shape 66"/>
          <p:cNvSpPr/>
          <p:nvPr/>
        </p:nvSpPr>
        <p:spPr>
          <a:xfrm>
            <a:off x="9027414" y="2048256"/>
            <a:ext cx="2462022" cy="603504"/>
          </a:xfrm>
          <a:prstGeom prst="rect">
            <a:avLst/>
          </a:prstGeom>
          <a:solidFill>
            <a:srgbClr val="10202A">
              <a:alpha val="92000"/>
            </a:srgbClr>
          </a:solidFill>
          <a:ln w="9525">
            <a:solidFill>
              <a:srgbClr val="1020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082278" y="2084832"/>
            <a:ext cx="23522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Fundable scale</a:t>
            </a:r>
            <a:endParaRPr lang="en-US" sz="770" dirty="0"/>
          </a:p>
        </p:txBody>
      </p:sp>
      <p:sp>
        <p:nvSpPr>
          <p:cNvPr id="70" name="Shape 68"/>
          <p:cNvSpPr/>
          <p:nvPr/>
        </p:nvSpPr>
        <p:spPr>
          <a:xfrm>
            <a:off x="566928" y="2724912"/>
            <a:ext cx="8503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66928" y="2724912"/>
            <a:ext cx="73152" cy="749808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6656" y="3008376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720" dirty="0"/>
          </a:p>
        </p:txBody>
      </p:sp>
      <p:sp>
        <p:nvSpPr>
          <p:cNvPr id="73" name="Shape 71"/>
          <p:cNvSpPr/>
          <p:nvPr/>
        </p:nvSpPr>
        <p:spPr>
          <a:xfrm>
            <a:off x="1417320" y="2724912"/>
            <a:ext cx="101041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25933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0134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94335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8536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62737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6938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31139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15340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99541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83742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679430" y="2724912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449324" y="2798064"/>
            <a:ext cx="1620012" cy="60350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04188" y="2834640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 + Twilio</a:t>
            </a:r>
            <a:endParaRPr lang="en-US" sz="770" dirty="0"/>
          </a:p>
        </p:txBody>
      </p:sp>
      <p:sp>
        <p:nvSpPr>
          <p:cNvPr id="87" name="Shape 85"/>
          <p:cNvSpPr/>
          <p:nvPr/>
        </p:nvSpPr>
        <p:spPr>
          <a:xfrm>
            <a:off x="3133344" y="2798064"/>
            <a:ext cx="778002" cy="60350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188208" y="2834640"/>
            <a:ext cx="6682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770" dirty="0"/>
          </a:p>
        </p:txBody>
      </p:sp>
      <p:sp>
        <p:nvSpPr>
          <p:cNvPr id="89" name="Shape 87"/>
          <p:cNvSpPr/>
          <p:nvPr/>
        </p:nvSpPr>
        <p:spPr>
          <a:xfrm>
            <a:off x="3975354" y="2798064"/>
            <a:ext cx="1620012" cy="60350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030218" y="2834640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Multi-tenant</a:t>
            </a:r>
            <a:endParaRPr lang="en-US" sz="770" dirty="0"/>
          </a:p>
        </p:txBody>
      </p:sp>
      <p:sp>
        <p:nvSpPr>
          <p:cNvPr id="91" name="Shape 89"/>
          <p:cNvSpPr/>
          <p:nvPr/>
        </p:nvSpPr>
        <p:spPr>
          <a:xfrm>
            <a:off x="5659374" y="2798064"/>
            <a:ext cx="1620012" cy="60350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714238" y="2834640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KVKK + DPA</a:t>
            </a:r>
            <a:endParaRPr lang="en-US" sz="770" dirty="0"/>
          </a:p>
        </p:txBody>
      </p:sp>
      <p:sp>
        <p:nvSpPr>
          <p:cNvPr id="93" name="Shape 91"/>
          <p:cNvSpPr/>
          <p:nvPr/>
        </p:nvSpPr>
        <p:spPr>
          <a:xfrm>
            <a:off x="7343394" y="2798064"/>
            <a:ext cx="1620012" cy="60350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398258" y="2834640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EHR/HIS</a:t>
            </a:r>
            <a:endParaRPr lang="en-US" sz="770" dirty="0"/>
          </a:p>
        </p:txBody>
      </p:sp>
      <p:sp>
        <p:nvSpPr>
          <p:cNvPr id="95" name="Shape 93"/>
          <p:cNvSpPr/>
          <p:nvPr/>
        </p:nvSpPr>
        <p:spPr>
          <a:xfrm>
            <a:off x="9027414" y="2798064"/>
            <a:ext cx="2462022" cy="603504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082278" y="2834640"/>
            <a:ext cx="23522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+ ISO</a:t>
            </a:r>
            <a:endParaRPr lang="en-US" sz="770" dirty="0"/>
          </a:p>
        </p:txBody>
      </p:sp>
      <p:sp>
        <p:nvSpPr>
          <p:cNvPr id="97" name="Shape 95"/>
          <p:cNvSpPr/>
          <p:nvPr/>
        </p:nvSpPr>
        <p:spPr>
          <a:xfrm>
            <a:off x="566928" y="3474720"/>
            <a:ext cx="8503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66928" y="3474720"/>
            <a:ext cx="73152" cy="749808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76656" y="3758184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720" dirty="0"/>
          </a:p>
        </p:txBody>
      </p:sp>
      <p:sp>
        <p:nvSpPr>
          <p:cNvPr id="100" name="Shape 98"/>
          <p:cNvSpPr/>
          <p:nvPr/>
        </p:nvSpPr>
        <p:spPr>
          <a:xfrm>
            <a:off x="1417320" y="3474720"/>
            <a:ext cx="101041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25933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10134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94335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8536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62737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46938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31139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15340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99541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83742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679430" y="3474720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449324" y="3547872"/>
            <a:ext cx="778002" cy="60350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504188" y="3584448"/>
            <a:ext cx="6682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ICP + 200</a:t>
            </a:r>
            <a:endParaRPr lang="en-US" sz="770" dirty="0"/>
          </a:p>
        </p:txBody>
      </p:sp>
      <p:sp>
        <p:nvSpPr>
          <p:cNvPr id="114" name="Shape 112"/>
          <p:cNvSpPr/>
          <p:nvPr/>
        </p:nvSpPr>
        <p:spPr>
          <a:xfrm>
            <a:off x="2291334" y="3547872"/>
            <a:ext cx="778002" cy="60350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346198" y="3584448"/>
            <a:ext cx="6682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discovery</a:t>
            </a:r>
            <a:endParaRPr lang="en-US" sz="770" dirty="0"/>
          </a:p>
        </p:txBody>
      </p:sp>
      <p:sp>
        <p:nvSpPr>
          <p:cNvPr id="116" name="Shape 114"/>
          <p:cNvSpPr/>
          <p:nvPr/>
        </p:nvSpPr>
        <p:spPr>
          <a:xfrm>
            <a:off x="3133344" y="3547872"/>
            <a:ext cx="1620012" cy="60350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188208" y="3584448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pilots</a:t>
            </a:r>
            <a:endParaRPr lang="en-US" sz="770" dirty="0"/>
          </a:p>
        </p:txBody>
      </p:sp>
      <p:sp>
        <p:nvSpPr>
          <p:cNvPr id="118" name="Shape 116"/>
          <p:cNvSpPr/>
          <p:nvPr/>
        </p:nvSpPr>
        <p:spPr>
          <a:xfrm>
            <a:off x="4817364" y="3547872"/>
            <a:ext cx="1620012" cy="60350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872228" y="3584448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customers</a:t>
            </a:r>
            <a:endParaRPr lang="en-US" sz="770" dirty="0"/>
          </a:p>
        </p:txBody>
      </p:sp>
      <p:sp>
        <p:nvSpPr>
          <p:cNvPr id="120" name="Shape 118"/>
          <p:cNvSpPr/>
          <p:nvPr/>
        </p:nvSpPr>
        <p:spPr>
          <a:xfrm>
            <a:off x="6501384" y="3547872"/>
            <a:ext cx="2462022" cy="60350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556248" y="3584448"/>
            <a:ext cx="23522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</a:t>
            </a:r>
            <a:endParaRPr lang="en-US" sz="770" dirty="0"/>
          </a:p>
        </p:txBody>
      </p:sp>
      <p:sp>
        <p:nvSpPr>
          <p:cNvPr id="122" name="Shape 120"/>
          <p:cNvSpPr/>
          <p:nvPr/>
        </p:nvSpPr>
        <p:spPr>
          <a:xfrm>
            <a:off x="9027414" y="3547872"/>
            <a:ext cx="2462022" cy="603504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082278" y="3584448"/>
            <a:ext cx="23522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150K</a:t>
            </a:r>
            <a:endParaRPr lang="en-US" sz="770" dirty="0"/>
          </a:p>
        </p:txBody>
      </p:sp>
      <p:sp>
        <p:nvSpPr>
          <p:cNvPr id="124" name="Shape 122"/>
          <p:cNvSpPr/>
          <p:nvPr/>
        </p:nvSpPr>
        <p:spPr>
          <a:xfrm>
            <a:off x="566928" y="4224528"/>
            <a:ext cx="8503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66928" y="4224528"/>
            <a:ext cx="73152" cy="749808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76656" y="4507992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720" dirty="0"/>
          </a:p>
        </p:txBody>
      </p:sp>
      <p:sp>
        <p:nvSpPr>
          <p:cNvPr id="127" name="Shape 125"/>
          <p:cNvSpPr/>
          <p:nvPr/>
        </p:nvSpPr>
        <p:spPr>
          <a:xfrm>
            <a:off x="1417320" y="4224528"/>
            <a:ext cx="101041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25933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10134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94335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8536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62737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46938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31139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15340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99541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83742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679430" y="4224528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291334" y="4297680"/>
            <a:ext cx="778002" cy="60350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346198" y="4334256"/>
            <a:ext cx="6682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770" dirty="0"/>
          </a:p>
        </p:txBody>
      </p:sp>
      <p:sp>
        <p:nvSpPr>
          <p:cNvPr id="141" name="Shape 139"/>
          <p:cNvSpPr/>
          <p:nvPr/>
        </p:nvSpPr>
        <p:spPr>
          <a:xfrm>
            <a:off x="3975354" y="4297680"/>
            <a:ext cx="778002" cy="60350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030218" y="4334256"/>
            <a:ext cx="6682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ML/AI + CS</a:t>
            </a:r>
            <a:endParaRPr lang="en-US" sz="770" dirty="0"/>
          </a:p>
        </p:txBody>
      </p:sp>
      <p:sp>
        <p:nvSpPr>
          <p:cNvPr id="143" name="Shape 141"/>
          <p:cNvSpPr/>
          <p:nvPr/>
        </p:nvSpPr>
        <p:spPr>
          <a:xfrm>
            <a:off x="5659374" y="4297680"/>
            <a:ext cx="1620012" cy="60350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714238" y="4334256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SOPs</a:t>
            </a:r>
            <a:endParaRPr lang="en-US" sz="770" dirty="0"/>
          </a:p>
        </p:txBody>
      </p:sp>
      <p:sp>
        <p:nvSpPr>
          <p:cNvPr id="145" name="Shape 143"/>
          <p:cNvSpPr/>
          <p:nvPr/>
        </p:nvSpPr>
        <p:spPr>
          <a:xfrm>
            <a:off x="8185404" y="4297680"/>
            <a:ext cx="778002" cy="60350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240268" y="4334256"/>
            <a:ext cx="6682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770" dirty="0"/>
          </a:p>
        </p:txBody>
      </p:sp>
      <p:sp>
        <p:nvSpPr>
          <p:cNvPr id="147" name="Shape 145"/>
          <p:cNvSpPr/>
          <p:nvPr/>
        </p:nvSpPr>
        <p:spPr>
          <a:xfrm>
            <a:off x="9869424" y="4297680"/>
            <a:ext cx="1620012" cy="603504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924288" y="4334256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core</a:t>
            </a:r>
            <a:endParaRPr lang="en-US" sz="770" dirty="0"/>
          </a:p>
        </p:txBody>
      </p:sp>
      <p:sp>
        <p:nvSpPr>
          <p:cNvPr id="149" name="Shape 147"/>
          <p:cNvSpPr/>
          <p:nvPr/>
        </p:nvSpPr>
        <p:spPr>
          <a:xfrm>
            <a:off x="566928" y="4974336"/>
            <a:ext cx="8503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66928" y="4974336"/>
            <a:ext cx="73152" cy="749808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76656" y="5257800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</a:t>
            </a:r>
            <a:endParaRPr lang="en-US" sz="720" dirty="0"/>
          </a:p>
        </p:txBody>
      </p:sp>
      <p:sp>
        <p:nvSpPr>
          <p:cNvPr id="152" name="Shape 150"/>
          <p:cNvSpPr/>
          <p:nvPr/>
        </p:nvSpPr>
        <p:spPr>
          <a:xfrm>
            <a:off x="1417320" y="4974336"/>
            <a:ext cx="101041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25933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10134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94335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78536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62737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6938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31139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15340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99541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83742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679430" y="4974336"/>
            <a:ext cx="0" cy="749808"/>
          </a:xfrm>
          <a:prstGeom prst="line">
            <a:avLst/>
          </a:prstGeom>
          <a:noFill/>
          <a:ln w="4445">
            <a:solidFill>
              <a:srgbClr val="E8E2D6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133344" y="5047488"/>
            <a:ext cx="778002" cy="60350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3188208" y="5084064"/>
            <a:ext cx="6682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</a:t>
            </a:r>
            <a:endParaRPr lang="en-US" sz="770" dirty="0"/>
          </a:p>
        </p:txBody>
      </p:sp>
      <p:sp>
        <p:nvSpPr>
          <p:cNvPr id="166" name="Shape 164"/>
          <p:cNvSpPr/>
          <p:nvPr/>
        </p:nvSpPr>
        <p:spPr>
          <a:xfrm>
            <a:off x="3975354" y="5047488"/>
            <a:ext cx="778002" cy="60350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4030218" y="5084064"/>
            <a:ext cx="6682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VERBIS</a:t>
            </a:r>
            <a:endParaRPr lang="en-US" sz="770" dirty="0"/>
          </a:p>
        </p:txBody>
      </p:sp>
      <p:sp>
        <p:nvSpPr>
          <p:cNvPr id="168" name="Shape 166"/>
          <p:cNvSpPr/>
          <p:nvPr/>
        </p:nvSpPr>
        <p:spPr>
          <a:xfrm>
            <a:off x="7343394" y="5047488"/>
            <a:ext cx="1620012" cy="60350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7398258" y="5084064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deck</a:t>
            </a:r>
            <a:endParaRPr lang="en-US" sz="770" dirty="0"/>
          </a:p>
        </p:txBody>
      </p:sp>
      <p:sp>
        <p:nvSpPr>
          <p:cNvPr id="170" name="Shape 168"/>
          <p:cNvSpPr/>
          <p:nvPr/>
        </p:nvSpPr>
        <p:spPr>
          <a:xfrm>
            <a:off x="9027414" y="5047488"/>
            <a:ext cx="1620012" cy="60350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9082278" y="5084064"/>
            <a:ext cx="15102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start</a:t>
            </a:r>
            <a:endParaRPr lang="en-US" sz="770" dirty="0"/>
          </a:p>
        </p:txBody>
      </p:sp>
      <p:sp>
        <p:nvSpPr>
          <p:cNvPr id="172" name="Shape 170"/>
          <p:cNvSpPr/>
          <p:nvPr/>
        </p:nvSpPr>
        <p:spPr>
          <a:xfrm>
            <a:off x="10711434" y="5047488"/>
            <a:ext cx="778002" cy="603504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10766298" y="5084064"/>
            <a:ext cx="6682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Pre-seed</a:t>
            </a:r>
            <a:endParaRPr lang="en-US" sz="770" dirty="0"/>
          </a:p>
        </p:txBody>
      </p:sp>
      <p:sp>
        <p:nvSpPr>
          <p:cNvPr id="174" name="Text 172"/>
          <p:cNvSpPr/>
          <p:nvPr/>
        </p:nvSpPr>
        <p:spPr>
          <a:xfrm>
            <a:off x="594360" y="58978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gates</a:t>
            </a:r>
            <a:endParaRPr lang="en-US" sz="1050" dirty="0"/>
          </a:p>
        </p:txBody>
      </p:sp>
      <p:sp>
        <p:nvSpPr>
          <p:cNvPr id="175" name="Shape 173"/>
          <p:cNvSpPr/>
          <p:nvPr/>
        </p:nvSpPr>
        <p:spPr>
          <a:xfrm>
            <a:off x="3440049" y="5916168"/>
            <a:ext cx="164592" cy="164592"/>
          </a:xfrm>
          <a:prstGeom prst="diamond">
            <a:avLst/>
          </a:prstGeom>
          <a:solidFill>
            <a:srgbClr val="C9871B"/>
          </a:solidFill>
          <a:ln w="12700">
            <a:solidFill>
              <a:srgbClr val="C9871B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3019425" y="61264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grant</a:t>
            </a:r>
            <a:endParaRPr lang="en-US" sz="740" dirty="0"/>
          </a:p>
        </p:txBody>
      </p:sp>
      <p:sp>
        <p:nvSpPr>
          <p:cNvPr id="177" name="Shape 175"/>
          <p:cNvSpPr/>
          <p:nvPr/>
        </p:nvSpPr>
        <p:spPr>
          <a:xfrm>
            <a:off x="5966079" y="5916168"/>
            <a:ext cx="164592" cy="164592"/>
          </a:xfrm>
          <a:prstGeom prst="diamond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545455" y="61264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customers</a:t>
            </a:r>
            <a:endParaRPr lang="en-US" sz="740" dirty="0"/>
          </a:p>
        </p:txBody>
      </p:sp>
      <p:sp>
        <p:nvSpPr>
          <p:cNvPr id="179" name="Shape 177"/>
          <p:cNvSpPr/>
          <p:nvPr/>
        </p:nvSpPr>
        <p:spPr>
          <a:xfrm>
            <a:off x="8492109" y="5916168"/>
            <a:ext cx="164592" cy="164592"/>
          </a:xfrm>
          <a:prstGeom prst="diamond">
            <a:avLst/>
          </a:prstGeom>
          <a:solidFill>
            <a:srgbClr val="0E7C73"/>
          </a:solidFill>
          <a:ln w="12700">
            <a:solidFill>
              <a:srgbClr val="0E7C73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8071485" y="61264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EHR + partner</a:t>
            </a:r>
            <a:endParaRPr lang="en-US" sz="740" dirty="0"/>
          </a:p>
        </p:txBody>
      </p:sp>
      <p:sp>
        <p:nvSpPr>
          <p:cNvPr id="181" name="Shape 179"/>
          <p:cNvSpPr/>
          <p:nvPr/>
        </p:nvSpPr>
        <p:spPr>
          <a:xfrm>
            <a:off x="11018139" y="5916168"/>
            <a:ext cx="164592" cy="164592"/>
          </a:xfrm>
          <a:prstGeom prst="diamond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10597515" y="61264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150K ARR</a:t>
            </a:r>
            <a:endParaRPr lang="en-US" sz="7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CONTROL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main risks are managed directly inside the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1155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healthcare, the real edge comes from trust and operational discipline as much as speed.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A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6528816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A7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 Masters 2026-1 | Deliverable 2 Roadmap | 23 May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627632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27632"/>
            <a:ext cx="91440" cy="566928"/>
          </a:xfrm>
          <a:prstGeom prst="rect">
            <a:avLst/>
          </a:prstGeom>
          <a:solidFill>
            <a:srgbClr val="B5473B"/>
          </a:solidFill>
          <a:ln w="9525">
            <a:solidFill>
              <a:srgbClr val="B547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73936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 medical routing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77640" y="1773936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Shadow Mode, doctor approval, triage policy gate, audit log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85800" y="2377440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377440"/>
            <a:ext cx="91440" cy="566928"/>
          </a:xfrm>
          <a:prstGeom prst="rect">
            <a:avLst/>
          </a:prstGeom>
          <a:solidFill>
            <a:srgbClr val="0E7C73"/>
          </a:solidFill>
          <a:ln w="9525">
            <a:solidFill>
              <a:srgbClr val="0E7C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52374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KVKK / patient data risk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77640" y="2523744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VERBIS, DPA, RBAC, encrypted storage, Turkey server strategy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85800" y="3127248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127248"/>
            <a:ext cx="91440" cy="566928"/>
          </a:xfrm>
          <a:prstGeom prst="rect">
            <a:avLst/>
          </a:prstGeom>
          <a:solidFill>
            <a:srgbClr val="255C99"/>
          </a:solidFill>
          <a:ln w="9525">
            <a:solidFill>
              <a:srgbClr val="255C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273552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clinic adoption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977640" y="3273552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 that empowers reception staff; first month with human-supervised transition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85800" y="3877056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877056"/>
            <a:ext cx="91440" cy="566928"/>
          </a:xfrm>
          <a:prstGeom prst="rect">
            <a:avLst/>
          </a:prstGeom>
          <a:solidFill>
            <a:srgbClr val="C9871B"/>
          </a:solidFill>
          <a:ln w="9525">
            <a:solidFill>
              <a:srgbClr val="C987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2336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 and sales cycle expand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77640" y="4023360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ICP, regional field sales, channel partner and case-study engine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85800" y="4626864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5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626864"/>
            <a:ext cx="91440" cy="566928"/>
          </a:xfrm>
          <a:prstGeom prst="rect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77316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maliyeti artar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977640" y="4773168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04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model optimizasyonu, caching, prompt policy, usage monitoring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85800" y="5596128"/>
            <a:ext cx="10789920" cy="530352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5779008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cadence: weekly product/ops review, monthly KPI report, quarterly investor-readiness checkpoint.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2"/>
          </a:solidFill>
          <a:ln w="9525">
            <a:solidFill>
              <a:srgbClr val="0E1A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836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state after 12 months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7043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DE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roadmap works toward one outcome: a trusted, paid and fundable AI intake platform in Turkey's healthcare vertical.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3154680" cy="932688"/>
          </a:xfrm>
          <a:prstGeom prst="rect">
            <a:avLst/>
          </a:prstGeom>
          <a:solidFill>
            <a:srgbClr val="172933"/>
          </a:solidFill>
          <a:ln w="9525">
            <a:solidFill>
              <a:srgbClr val="3552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396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50545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paying clinics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325112" y="1975104"/>
            <a:ext cx="3154680" cy="932688"/>
          </a:xfrm>
          <a:prstGeom prst="rect">
            <a:avLst/>
          </a:prstGeom>
          <a:solidFill>
            <a:srgbClr val="172933"/>
          </a:solidFill>
          <a:ln w="9525">
            <a:solidFill>
              <a:srgbClr val="3552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1396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8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150K EUR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26280" y="250545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 run-rate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936992" y="1975104"/>
            <a:ext cx="3154680" cy="932688"/>
          </a:xfrm>
          <a:prstGeom prst="rect">
            <a:avLst/>
          </a:prstGeom>
          <a:solidFill>
            <a:srgbClr val="172933"/>
          </a:solidFill>
          <a:ln w="9525">
            <a:solidFill>
              <a:srgbClr val="3552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1396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5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138160" y="250545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 case study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13232" y="3300984"/>
            <a:ext cx="3154680" cy="932688"/>
          </a:xfrm>
          <a:prstGeom prst="rect">
            <a:avLst/>
          </a:prstGeom>
          <a:solidFill>
            <a:srgbClr val="172933"/>
          </a:solidFill>
          <a:ln w="9525">
            <a:solidFill>
              <a:srgbClr val="3552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655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383133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team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325112" y="3300984"/>
            <a:ext cx="3154680" cy="932688"/>
          </a:xfrm>
          <a:prstGeom prst="rect">
            <a:avLst/>
          </a:prstGeom>
          <a:solidFill>
            <a:srgbClr val="172933"/>
          </a:solidFill>
          <a:ln w="9525">
            <a:solidFill>
              <a:srgbClr val="3552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4655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8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500K EUR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26280" y="383133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pre-seed close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85800" y="5029200"/>
            <a:ext cx="10789920" cy="786384"/>
          </a:xfrm>
          <a:prstGeom prst="rect">
            <a:avLst/>
          </a:prstGeom>
          <a:solidFill>
            <a:srgbClr val="132631"/>
          </a:solidFill>
          <a:ln w="9525">
            <a:solidFill>
              <a:srgbClr val="3150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2303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34B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link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14600" y="519379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the Phase 1 clinic beachhead is proven, the same infrastructure can expand to eye care, psychology, physiotherapy, veterinary clinics and multi-branch groups.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63276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C7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CogniVault Medical AI | BiGG Masters 2026-1 | Deliverable 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CogniVault Medical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CogniVault Medical AI - Deliverable 2 Roadmap English</dc:title>
  <dc:subject>BiGG Masters 2026-1 Deliverable 2 Roadmap</dc:subject>
  <dc:creator>CogniVault Medical AI</dc:creator>
  <cp:lastModifiedBy>CogniVault Medical AI</cp:lastModifiedBy>
  <cp:revision>1</cp:revision>
  <dcterms:created xsi:type="dcterms:W3CDTF">2026-05-23T15:05:15Z</dcterms:created>
  <dcterms:modified xsi:type="dcterms:W3CDTF">2026-05-23T15:05:15Z</dcterms:modified>
</cp:coreProperties>
</file>