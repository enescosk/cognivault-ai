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0"/>
            <a:ext cx="2926080" cy="6858000"/>
          </a:xfrm>
          <a:prstGeom prst="rect">
            <a:avLst/>
          </a:prstGeom>
          <a:solidFill>
            <a:srgbClr val="0E7C73">
              <a:alpha val="88000"/>
            </a:srgbClr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0"/>
            <a:ext cx="146304" cy="6858000"/>
          </a:xfrm>
          <a:prstGeom prst="rect">
            <a:avLst/>
          </a:prstGeom>
          <a:solidFill>
            <a:srgbClr val="34B3A0"/>
          </a:solidFill>
          <a:ln w="9525">
            <a:solidFill>
              <a:srgbClr val="34B3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713232"/>
            <a:ext cx="2194560" cy="0"/>
          </a:xfrm>
          <a:prstGeom prst="line">
            <a:avLst/>
          </a:prstGeom>
          <a:noFill/>
          <a:ln w="13970">
            <a:solidFill>
              <a:srgbClr val="34B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786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B8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 2 | ROADMAP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CogniVault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94360" y="272491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4B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Medical AI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367588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E7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aylık uygulanabilir büyüme planı: ürün-pazar uyumu, klinik GTM, ekip, bütçe ve uyum yol haritası.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1783080" cy="713232"/>
          </a:xfrm>
          <a:prstGeom prst="rect">
            <a:avLst/>
          </a:prstGeom>
          <a:solidFill>
            <a:srgbClr val="152934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5001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8096" y="5285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ödeme yapan klinik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88336" y="4892040"/>
            <a:ext cx="1783080" cy="713232"/>
          </a:xfrm>
          <a:prstGeom prst="rect">
            <a:avLst/>
          </a:prstGeom>
          <a:solidFill>
            <a:srgbClr val="152934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5001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150K EUR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16352" y="5285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 hedefi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36592" y="4892040"/>
            <a:ext cx="1783080" cy="713232"/>
          </a:xfrm>
          <a:prstGeom prst="rect">
            <a:avLst/>
          </a:prstGeom>
          <a:solidFill>
            <a:srgbClr val="152934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5001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255K EUR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64608" y="5285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ay bütçe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84848" y="4892040"/>
            <a:ext cx="1783080" cy="713232"/>
          </a:xfrm>
          <a:prstGeom prst="rect">
            <a:avLst/>
          </a:prstGeom>
          <a:solidFill>
            <a:srgbClr val="152934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5001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12864" y="5285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62362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8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submission deadline: 24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| STRATEGIC OBJECTIVE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ayda kanıtlanacak ana tez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 1'deki değer önerisi, burada ölçülebilir Year-1 hedeflerine dönüşüyor.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627632"/>
            <a:ext cx="11018520" cy="1170432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27632"/>
            <a:ext cx="100584" cy="1170432"/>
          </a:xfrm>
          <a:prstGeom prst="rect">
            <a:avLst/>
          </a:prstGeom>
          <a:solidFill>
            <a:srgbClr val="34B3A0"/>
          </a:solidFill>
          <a:ln w="9525">
            <a:solidFill>
              <a:srgbClr val="34B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83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OBJECTIVE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202996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Türkiye'de 20 ödeme yapan klinik müşterisine ulaşmak, KVKK uyumlu çok kanallı klinik AI intake platformunda PMF'i kanıtlamak ve 150K EUR ARR seviyesine çıkmak.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3090672"/>
            <a:ext cx="25420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090672"/>
            <a:ext cx="73152" cy="960120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209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7C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5528" y="3593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ödeme yapan klinik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 + success fee mix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55848" y="3090672"/>
            <a:ext cx="25420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3090672"/>
            <a:ext cx="73152" cy="960120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3209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87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150K EUR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557016" y="3593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 hedefi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57016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sonunda run-rate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17336" y="3090672"/>
            <a:ext cx="25420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7336" y="3090672"/>
            <a:ext cx="73152" cy="960120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3209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5C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NPS 40+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18504" y="3593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memnuniyeti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18504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doktor + resepsiyon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878824" y="3090672"/>
            <a:ext cx="25420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8824" y="3090672"/>
            <a:ext cx="73152" cy="960120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9992" y="3209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079992" y="3593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079992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ve kurtarılan fırsat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4360" y="4498848"/>
            <a:ext cx="34564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498848"/>
            <a:ext cx="3456432" cy="4114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46817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 proof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" y="4965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7/24 çok dilli medikal resepsiyonist; WhatsApp, telefon, web ve form kanallarından gelen hasta temaslarını randevuya çevirir.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4306824" y="4498848"/>
            <a:ext cx="34564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06824" y="4498848"/>
            <a:ext cx="3456432" cy="4114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7992" y="46817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07992" y="4965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 1: diş, estetik, saç ekimi, tüp bebek klinikleri; ilk pazarda dijital hazır özel klinikler.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8019288" y="4498848"/>
            <a:ext cx="34564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19288" y="4498848"/>
            <a:ext cx="3456432" cy="4114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0456" y="46817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mechanism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0456" y="4965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Mode + doktor onayı + KVKK altyapısı, kliniklerde güvenli geçişi ve hatadan kaçınmayı sağlar.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| KEY OBJECTIVES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hedef, her biri sayısal bitiş kriterine bağlı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Hedefler ürün, pazar, ekip ve sermaye taraflarını aynı 12 aylık ritimde birleştirir.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2152498" cy="70408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1878178" cy="585216"/>
          </a:xfrm>
          <a:prstGeom prst="rect">
            <a:avLst/>
          </a:prstGeom>
          <a:solidFill>
            <a:srgbClr val="E1F3EF"/>
          </a:solidFill>
          <a:ln w="9525">
            <a:solidFill>
              <a:srgbClr val="E1F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 klinikte PMF sinyali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67512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033272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discovery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67512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1033272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 onboarding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67512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033272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ücretli pilot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67512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033272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40+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67512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033272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ROI case study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67512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65146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65146" y="1572768"/>
            <a:ext cx="2152498" cy="70408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2306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02306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902306" y="2468880"/>
            <a:ext cx="1878178" cy="585216"/>
          </a:xfrm>
          <a:prstGeom prst="rect">
            <a:avLst/>
          </a:prstGeom>
          <a:solidFill>
            <a:srgbClr val="E5EEF8"/>
          </a:solidFill>
          <a:ln w="9525">
            <a:solidFill>
              <a:srgbClr val="E5EE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2034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Production-grade multi-channel AI intake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2929738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295498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+ Twilio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2929738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9738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295498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 + tests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2929738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9738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3295498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Multi-tenancy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2929738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9738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295498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KVKK + DPA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2929738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9738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3295498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EHR/HIS live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2929738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7371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7371" y="1572768"/>
            <a:ext cx="2152498" cy="70408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4531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164531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164531" y="2468880"/>
            <a:ext cx="1878178" cy="585216"/>
          </a:xfrm>
          <a:prstGeom prst="rect">
            <a:avLst/>
          </a:prstGeom>
          <a:solidFill>
            <a:srgbClr val="F7EBD3"/>
          </a:solidFill>
          <a:ln w="9525">
            <a:solidFill>
              <a:srgbClr val="F7EBD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74259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ödeme yapan klinik / 150K EUR ARR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5191963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5557723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 + 200 lead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5191963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91963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61" name="Text 59"/>
          <p:cNvSpPr/>
          <p:nvPr/>
        </p:nvSpPr>
        <p:spPr>
          <a:xfrm>
            <a:off x="5557723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satış kanalı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5191963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91963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5557723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müşteri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5191963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1963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5557723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partner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5191963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91963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70" name="Text 68"/>
          <p:cNvSpPr/>
          <p:nvPr/>
        </p:nvSpPr>
        <p:spPr>
          <a:xfrm>
            <a:off x="5557723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müşteri</a:t>
            </a:r>
            <a:endParaRPr lang="en-US" sz="860" dirty="0"/>
          </a:p>
        </p:txBody>
      </p:sp>
      <p:sp>
        <p:nvSpPr>
          <p:cNvPr id="71" name="Shape 69"/>
          <p:cNvSpPr/>
          <p:nvPr/>
        </p:nvSpPr>
        <p:spPr>
          <a:xfrm>
            <a:off x="5191963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89597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89597" y="1572768"/>
            <a:ext cx="2152498" cy="704088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26757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7426757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Ops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7426757" y="2468880"/>
            <a:ext cx="1878178" cy="585216"/>
          </a:xfrm>
          <a:prstGeom prst="rect">
            <a:avLst/>
          </a:prstGeom>
          <a:solidFill>
            <a:srgbClr val="ECE8FA"/>
          </a:solidFill>
          <a:ln w="9525">
            <a:solidFill>
              <a:srgbClr val="ECE8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36485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kişilik core team + SOP</a:t>
            </a:r>
            <a:endParaRPr lang="en-US" sz="920" dirty="0"/>
          </a:p>
        </p:txBody>
      </p:sp>
      <p:sp>
        <p:nvSpPr>
          <p:cNvPr id="78" name="Text 76"/>
          <p:cNvSpPr/>
          <p:nvPr/>
        </p:nvSpPr>
        <p:spPr>
          <a:xfrm>
            <a:off x="7454189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79" name="Text 77"/>
          <p:cNvSpPr/>
          <p:nvPr/>
        </p:nvSpPr>
        <p:spPr>
          <a:xfrm>
            <a:off x="7819949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hire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7454189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54189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7819949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ML/AI + CS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7454189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54189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7819949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SOP</a:t>
            </a:r>
            <a:endParaRPr lang="en-US" sz="860" dirty="0"/>
          </a:p>
        </p:txBody>
      </p:sp>
      <p:sp>
        <p:nvSpPr>
          <p:cNvPr id="86" name="Shape 84"/>
          <p:cNvSpPr/>
          <p:nvPr/>
        </p:nvSpPr>
        <p:spPr>
          <a:xfrm>
            <a:off x="7454189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54189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7819949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hire</a:t>
            </a:r>
            <a:endParaRPr lang="en-US" sz="860" dirty="0"/>
          </a:p>
        </p:txBody>
      </p:sp>
      <p:sp>
        <p:nvSpPr>
          <p:cNvPr id="89" name="Shape 87"/>
          <p:cNvSpPr/>
          <p:nvPr/>
        </p:nvSpPr>
        <p:spPr>
          <a:xfrm>
            <a:off x="7454189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454189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7819949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core team</a:t>
            </a:r>
            <a:endParaRPr lang="en-US" sz="860" dirty="0"/>
          </a:p>
        </p:txBody>
      </p:sp>
      <p:sp>
        <p:nvSpPr>
          <p:cNvPr id="92" name="Shape 90"/>
          <p:cNvSpPr/>
          <p:nvPr/>
        </p:nvSpPr>
        <p:spPr>
          <a:xfrm>
            <a:off x="7454189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551822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551822" y="1572768"/>
            <a:ext cx="2152498" cy="704088"/>
          </a:xfrm>
          <a:prstGeom prst="rect">
            <a:avLst/>
          </a:prstGeom>
          <a:solidFill>
            <a:srgbClr val="2F8F5B"/>
          </a:solidFill>
          <a:ln w="9525">
            <a:solidFill>
              <a:srgbClr val="2F8F5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688982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9688982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&amp; Compliance</a:t>
            </a:r>
            <a:endParaRPr lang="en-US" sz="1250" dirty="0"/>
          </a:p>
        </p:txBody>
      </p:sp>
      <p:sp>
        <p:nvSpPr>
          <p:cNvPr id="97" name="Shape 95"/>
          <p:cNvSpPr/>
          <p:nvPr/>
        </p:nvSpPr>
        <p:spPr>
          <a:xfrm>
            <a:off x="9688982" y="2468880"/>
            <a:ext cx="1878178" cy="585216"/>
          </a:xfrm>
          <a:prstGeom prst="rect">
            <a:avLst/>
          </a:prstGeom>
          <a:solidFill>
            <a:srgbClr val="E4F0E8"/>
          </a:solidFill>
          <a:ln w="9525">
            <a:solidFill>
              <a:srgbClr val="E4F0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98710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hibe, KVKK, ISO hazırlığı, pre-seed</a:t>
            </a:r>
            <a:endParaRPr lang="en-US" sz="920" dirty="0"/>
          </a:p>
        </p:txBody>
      </p:sp>
      <p:sp>
        <p:nvSpPr>
          <p:cNvPr id="99" name="Text 97"/>
          <p:cNvSpPr/>
          <p:nvPr/>
        </p:nvSpPr>
        <p:spPr>
          <a:xfrm>
            <a:off x="9716414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10082174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hibe</a:t>
            </a:r>
            <a:endParaRPr lang="en-US" sz="860" dirty="0"/>
          </a:p>
        </p:txBody>
      </p:sp>
      <p:sp>
        <p:nvSpPr>
          <p:cNvPr id="101" name="Shape 99"/>
          <p:cNvSpPr/>
          <p:nvPr/>
        </p:nvSpPr>
        <p:spPr>
          <a:xfrm>
            <a:off x="9716414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716414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10082174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VERBIS + privacy</a:t>
            </a:r>
            <a:endParaRPr lang="en-US" sz="860" dirty="0"/>
          </a:p>
        </p:txBody>
      </p:sp>
      <p:sp>
        <p:nvSpPr>
          <p:cNvPr id="104" name="Shape 102"/>
          <p:cNvSpPr/>
          <p:nvPr/>
        </p:nvSpPr>
        <p:spPr>
          <a:xfrm>
            <a:off x="9716414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716414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106" name="Text 104"/>
          <p:cNvSpPr/>
          <p:nvPr/>
        </p:nvSpPr>
        <p:spPr>
          <a:xfrm>
            <a:off x="10082174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investor meet</a:t>
            </a:r>
            <a:endParaRPr lang="en-US" sz="860" dirty="0"/>
          </a:p>
        </p:txBody>
      </p:sp>
      <p:sp>
        <p:nvSpPr>
          <p:cNvPr id="107" name="Shape 105"/>
          <p:cNvSpPr/>
          <p:nvPr/>
        </p:nvSpPr>
        <p:spPr>
          <a:xfrm>
            <a:off x="9716414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716414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109" name="Text 107"/>
          <p:cNvSpPr/>
          <p:nvPr/>
        </p:nvSpPr>
        <p:spPr>
          <a:xfrm>
            <a:off x="10082174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 start</a:t>
            </a:r>
            <a:endParaRPr lang="en-US" sz="860" dirty="0"/>
          </a:p>
        </p:txBody>
      </p:sp>
      <p:sp>
        <p:nvSpPr>
          <p:cNvPr id="110" name="Shape 108"/>
          <p:cNvSpPr/>
          <p:nvPr/>
        </p:nvSpPr>
        <p:spPr>
          <a:xfrm>
            <a:off x="9716414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716414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112" name="Text 110"/>
          <p:cNvSpPr/>
          <p:nvPr/>
        </p:nvSpPr>
        <p:spPr>
          <a:xfrm>
            <a:off x="10082174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EUR close</a:t>
            </a:r>
            <a:endParaRPr lang="en-US" sz="860" dirty="0"/>
          </a:p>
        </p:txBody>
      </p:sp>
      <p:sp>
        <p:nvSpPr>
          <p:cNvPr id="113" name="Shape 111"/>
          <p:cNvSpPr/>
          <p:nvPr/>
        </p:nvSpPr>
        <p:spPr>
          <a:xfrm>
            <a:off x="9716414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| MILESTONE LOGIC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 ay ilerleme PMF'ten ölçeklenmeye doğru kuruldu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çeyrek, bir önceki riskin kanıtını alıp sonraki büyüme adımına aktarır.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254203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00200"/>
            <a:ext cx="2542032" cy="69494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7190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72821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8952" y="2048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A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May-Haz-Tem 2026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2633472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discovery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127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 + 200 lead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767328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WhatsApp/Twilio prod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334256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42611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hire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901184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hibe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4992" y="1600200"/>
            <a:ext cx="254203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600200"/>
            <a:ext cx="2542032" cy="69494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17190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50792" y="172821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to Paid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29584" y="2048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A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Ağu-Eyl-Eki 2026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47872" y="2633472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7328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 live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47872" y="3200400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3127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ücretli pilot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47872" y="3767328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müşteri hedefi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47872" y="4334256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67328" y="42611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ML/AI + CS hire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47872" y="4901184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 yayında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35624" y="1600200"/>
            <a:ext cx="254203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35624" y="1600200"/>
            <a:ext cx="2542032" cy="69494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0216" y="17190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21424" y="172821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Proof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300216" y="2048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A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Kas-Ara-Oca 2027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18504" y="2633472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40+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18504" y="3200400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127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case study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18504" y="3767328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partner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18504" y="4334256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42611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EHR/HIS entegrasyon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18504" y="4901184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hire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906256" y="1600200"/>
            <a:ext cx="254203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06256" y="1600200"/>
            <a:ext cx="2542032" cy="69494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70848" y="17190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592056" y="172821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Fundable Scale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9070848" y="2048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A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Şub-Mar-Nis 2027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089136" y="2633472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08592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müşteri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089136" y="3200400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3127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150K EUR ARR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089136" y="3767328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08592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 start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089136" y="4334256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08592" y="42611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core team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089136" y="4901184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08592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EUR pre-seed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94360" y="6254496"/>
            <a:ext cx="11018520" cy="9144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| CAPABILITIES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Roadmap'i taşıyacak yetkinlik blokları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yapısı Product, Market &amp; Sales, Team &amp; Operations ekseninde kuruldu.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187452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737360"/>
            <a:ext cx="1655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2468880" y="1572768"/>
            <a:ext cx="306324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737360"/>
            <a:ext cx="2843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CAPABILITY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5532120" y="1572768"/>
            <a:ext cx="306324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41848" y="1737360"/>
            <a:ext cx="2843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&amp; SALES CAPABILITY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8595360" y="1572768"/>
            <a:ext cx="306324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5088" y="1737360"/>
            <a:ext cx="2843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OPERATIONS CAPABILITY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594360" y="2075688"/>
            <a:ext cx="18745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075688"/>
            <a:ext cx="73152" cy="950976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36829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Foundation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2075688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222199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Cloud + Twilio voice webhookları, signature doğrulama, idempotency tablosu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532120" y="2075688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78424" y="222199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discovery, 5 pilot aday listesi, BiGG hibe kapanış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595360" y="2075688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1664" y="222199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hire, KVKK danışmanlık, dev/staging ayrımı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94360" y="3026664"/>
            <a:ext cx="18745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026664"/>
            <a:ext cx="73152" cy="950976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3319272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Pilot to Paid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68880" y="3026664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15184" y="317296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Multi-tenancy, workflow builder, golden scenario test suite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532120" y="3026664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78424" y="317296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ücretli pilot, 10 müşteriye giden outbound funnel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595360" y="3026664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41664" y="317296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ML/AI engineer + CS hire, onboarding/support SOP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594360" y="3977640"/>
            <a:ext cx="18745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3977640"/>
            <a:ext cx="73152" cy="950976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427024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Scale Proof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68880" y="3977640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15184" y="4123944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EHR/HIS entegrasyonu, analytics ve ROI raporlama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532120" y="3977640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78424" y="4123944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klinik zinciri veya channel partner, sağlık turizmi segment lansmanı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595360" y="3977640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41664" y="4123944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hire, partner onboarding ve incident response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594360" y="4928616"/>
            <a:ext cx="18745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4928616"/>
            <a:ext cx="73152" cy="950976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" y="5221224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Fundable Scale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4928616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15184" y="50749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 süreci, audit raporu, advanced dashboard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5532120" y="4928616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8424" y="50749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müşteri, 150K EUR ARR, referans/case study motoru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8595360" y="4928616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41664" y="50749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core team, pre-seed investor process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model, klinik satış hareketine bağlandı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İlk yıl odak: yüksek aciliyetli, WhatsApp-first, hasta kaybı maliyeti görünür klinikler.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664208"/>
            <a:ext cx="23317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1874520"/>
            <a:ext cx="402336" cy="402336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9751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Diş, estetik, saç ekimi, tüp bebek klinikleri; Nişantaşı, Şişli, Antalya koridoru.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017520" y="2633472"/>
            <a:ext cx="411480" cy="0"/>
          </a:xfrm>
          <a:prstGeom prst="line">
            <a:avLst/>
          </a:prstGeom>
          <a:noFill/>
          <a:ln w="15240">
            <a:solidFill>
              <a:srgbClr val="6A7B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3337560" y="2569464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664208"/>
            <a:ext cx="23317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592" y="1874520"/>
            <a:ext cx="402336" cy="402336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19751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93592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Capture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93592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Ads + WhatsApp + telefon temasları; gece/hafta sonu kaçırılan lead raporu.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760720" y="2633472"/>
            <a:ext cx="411480" cy="0"/>
          </a:xfrm>
          <a:prstGeom prst="line">
            <a:avLst/>
          </a:prstGeom>
          <a:noFill/>
          <a:ln w="15240">
            <a:solidFill>
              <a:srgbClr val="6A7B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6080760" y="2569464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664208"/>
            <a:ext cx="23317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1874520"/>
            <a:ext cx="402336" cy="402336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19751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36792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Onboarding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36792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İlk ay Shadow Mode: insan denetimi, doktor onayı, hata minimizasyonu.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503920" y="2633472"/>
            <a:ext cx="411480" cy="0"/>
          </a:xfrm>
          <a:prstGeom prst="line">
            <a:avLst/>
          </a:prstGeom>
          <a:noFill/>
          <a:ln w="15240">
            <a:solidFill>
              <a:srgbClr val="6A7B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8823960" y="2569464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15400" y="1664208"/>
            <a:ext cx="23317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79992" y="1874520"/>
            <a:ext cx="402336" cy="402336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9992" y="19751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79992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Expansion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79992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Starter/Growth/Enterprise SaaS, success fee ve çok şubeli klinik upsell.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85800" y="4160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 path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920240" y="4096512"/>
            <a:ext cx="20848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7400" y="4261104"/>
            <a:ext cx="530352" cy="256032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42885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057400" y="45994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0-5 pilots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057400" y="4855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4261104" y="4096512"/>
            <a:ext cx="20848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98264" y="4261104"/>
            <a:ext cx="530352" cy="256032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98264" y="42885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398264" y="45994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customers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398264" y="4855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repeatability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6601968" y="4096512"/>
            <a:ext cx="20848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39128" y="4261104"/>
            <a:ext cx="530352" cy="256032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39128" y="42885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739128" y="45994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customers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739128" y="4855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leverage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8942832" y="4096512"/>
            <a:ext cx="20848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79992" y="4261104"/>
            <a:ext cx="530352" cy="256032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79992" y="42885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079992" y="45994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customers / 150K EUR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079992" y="4855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Fundable scale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731520" y="58338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Not: 150K EUR ARR hedefi SaaS paketleri, enterprise mix ve yüksek değerli tedavilerde success fee gelirinin birlikte olgunlaşmasına bağlıdır.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| BUDGET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aylık kaynak planı: 255.000 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Bütçe, önce PMF riskini düşürmek sonra satış/uyum ölçeğine geçmek için fazlandırıldı.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6583680" cy="438912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746504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LINE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5715000" y="174650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594360" y="2039112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039112"/>
            <a:ext cx="73152" cy="676656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14884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Personnel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" y="240487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5-7 kişilik ekip, maaş, sigorta ve part-time uzman destek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394960" y="2221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180.000 EUR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2715768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715768"/>
            <a:ext cx="73152" cy="676656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2825496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 &amp; Software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" y="3081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API, Twilio, cloud, monitoring, security tooling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394960" y="2898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35.000 EUR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3392424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392424"/>
            <a:ext cx="73152" cy="676656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502152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Şubcontracting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" y="375818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KVKK hukuk, ISO hazırlık, UI/UX ve medikal danışmanlık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394960" y="35753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18.000 EUR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4069080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4069080"/>
            <a:ext cx="73152" cy="676656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417880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" y="443484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Saha satış, etkinlik, klinik ziyaretleri, pazarlama testleri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5394960" y="42519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14.000 EUR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4745736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4745736"/>
            <a:ext cx="73152" cy="676656"/>
          </a:xfrm>
          <a:prstGeom prst="rect">
            <a:avLst/>
          </a:prstGeom>
          <a:solidFill>
            <a:srgbClr val="2F8F5B"/>
          </a:solidFill>
          <a:ln w="9525">
            <a:solidFill>
              <a:srgbClr val="2F8F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4855464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Consumables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95528" y="51114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Ofis, cihaz, test hatları ve operasyonel sarf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5394960" y="49286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8.000 EUR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94360" y="5513832"/>
            <a:ext cx="658368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5696712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5641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255.000 EUR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543800" y="160020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phasing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543800" y="1965960"/>
            <a:ext cx="3703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08392" y="2148840"/>
            <a:ext cx="502920" cy="256032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08392" y="21762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30184" y="208483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hibe + kurucu bridge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30184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PMF ve pilot altyapısı finanse edilir.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7543800" y="2788920"/>
            <a:ext cx="3703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08392" y="2971800"/>
            <a:ext cx="502920" cy="256032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08392" y="29992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330184" y="290779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gelirleri + bridge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30184" y="31363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Ücretli pilotlar ve operasyonel SOP kanıtlanır.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7543800" y="3611880"/>
            <a:ext cx="3703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08392" y="3794760"/>
            <a:ext cx="502920" cy="256032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08392" y="38221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330184" y="373075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readiness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30184" y="39593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study, NPS, EHR ve partner kanıtı hazırlanır.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7543800" y="4434840"/>
            <a:ext cx="3703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08392" y="4617720"/>
            <a:ext cx="502920" cy="256032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08392" y="46451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330184" y="455371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EUR pre-seed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330184" y="47823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müşteri ve 150K EUR ARR ile tur kapanışı hedeflenir.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STRATEGY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BiGG hibesi PMF'i, pre-seed turu ölçeği finanse eder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Dış sermaye planı tek seferlik para arayışı değil; ölçülebilir traction kapılarıyla açılan bir finansman merdivenidir.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248716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00200"/>
            <a:ext cx="2487168" cy="65836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7373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+ kurucu bridge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2560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7C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600K TL + bridge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1248" y="307238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841248" y="32735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sertleştirme, 25 discovery, ilk pilot altyapısı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1248" y="3913632"/>
            <a:ext cx="1993392" cy="0"/>
          </a:xfrm>
          <a:prstGeom prst="line">
            <a:avLst/>
          </a:prstGeom>
          <a:noFill/>
          <a:ln w="8255">
            <a:solidFill>
              <a:srgbClr val="DA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1148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841248" y="43159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 adayı ve prod-ready WhatsApp/Twilio akışı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127248" y="3511296"/>
            <a:ext cx="301752" cy="0"/>
          </a:xfrm>
          <a:prstGeom prst="line">
            <a:avLst/>
          </a:prstGeom>
          <a:noFill/>
          <a:ln w="13970">
            <a:solidFill>
              <a:srgbClr val="6A7B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3346704" y="3447288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600200"/>
            <a:ext cx="248716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600200"/>
            <a:ext cx="2487168" cy="65836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17373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gelirleri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30168" y="2560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5C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ücretli pilot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630168" y="307238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3630168" y="32735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success, klinik onboarding, SOP kurulumu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30168" y="3913632"/>
            <a:ext cx="1993392" cy="0"/>
          </a:xfrm>
          <a:prstGeom prst="line">
            <a:avLst/>
          </a:prstGeom>
          <a:noFill/>
          <a:ln w="8255">
            <a:solidFill>
              <a:srgbClr val="DAD5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41148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3630168" y="43159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ödeme yapan müşteriye giden tekrar edilebilir funnel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916168" y="3511296"/>
            <a:ext cx="301752" cy="0"/>
          </a:xfrm>
          <a:prstGeom prst="line">
            <a:avLst/>
          </a:prstGeom>
          <a:noFill/>
          <a:ln w="13970">
            <a:solidFill>
              <a:srgbClr val="6A7B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6135624" y="3447288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600200"/>
            <a:ext cx="248716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1600200"/>
            <a:ext cx="2487168" cy="65836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17373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readiness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19088" y="2560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87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yatırımcı görüşmesi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419088" y="307238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6419088" y="32735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NPS, ROI case study, partner ve EHR/HIS kanıtı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19088" y="3913632"/>
            <a:ext cx="1993392" cy="0"/>
          </a:xfrm>
          <a:prstGeom prst="line">
            <a:avLst/>
          </a:prstGeom>
          <a:noFill/>
          <a:ln w="8255">
            <a:solidFill>
              <a:srgbClr val="DAD5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41148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6419088" y="43159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case study + NPS 40+ + ilk channel partner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705088" y="3511296"/>
            <a:ext cx="301752" cy="0"/>
          </a:xfrm>
          <a:prstGeom prst="line">
            <a:avLst/>
          </a:prstGeom>
          <a:noFill/>
          <a:ln w="13970">
            <a:solidFill>
              <a:srgbClr val="6A7B8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400000">
            <a:off x="8924544" y="3447288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06840" y="1600200"/>
            <a:ext cx="248716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06840" y="1600200"/>
            <a:ext cx="2487168" cy="658368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71432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646920" y="17373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 kapanışı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208008" y="2560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500K EUR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9208008" y="307238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9208008" y="32735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Satış ekibi, ISO 27001 süreci, enterprise ölçek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208008" y="3913632"/>
            <a:ext cx="1993392" cy="0"/>
          </a:xfrm>
          <a:prstGeom prst="line">
            <a:avLst/>
          </a:prstGeom>
          <a:noFill/>
          <a:ln w="8255">
            <a:solidFill>
              <a:srgbClr val="DAD5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08008" y="41148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9208008" y="43159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müşteri + 150K EUR ARR run-rate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85800" y="5806440"/>
            <a:ext cx="10789920" cy="420624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2688" y="5952744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story: klinik intake kategorisinde önce PMF ve güven kanıtı, sonra satış ekibi ve compliance ölçeği için dış sermaye.</a:t>
            </a:r>
            <a:endParaRPr lang="en-US" sz="9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 |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Mayıs 2026 - Nisan 2027 yürüyüş planı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Swimlane yapısı hedef, ürün, pazar, ekip ve finans/uyum işlerini aynı takvime koyar.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536192"/>
            <a:ext cx="850392" cy="438912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9164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141732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1732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225933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933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5933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17" name="Shape 15"/>
          <p:cNvSpPr/>
          <p:nvPr/>
        </p:nvSpPr>
        <p:spPr>
          <a:xfrm>
            <a:off x="310134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134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134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394335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4335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Ağu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4335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478536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536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8536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562737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737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2737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646938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938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6938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731139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139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139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815340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340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5340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>
            <a:off x="899541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9541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Şub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9541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640" dirty="0"/>
          </a:p>
        </p:txBody>
      </p:sp>
      <p:sp>
        <p:nvSpPr>
          <p:cNvPr id="41" name="Shape 39"/>
          <p:cNvSpPr/>
          <p:nvPr/>
        </p:nvSpPr>
        <p:spPr>
          <a:xfrm>
            <a:off x="983742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3742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83742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1067943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7943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67943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66928" y="1975104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1975104"/>
            <a:ext cx="73152" cy="749808"/>
          </a:xfrm>
          <a:prstGeom prst="rect">
            <a:avLst/>
          </a:prstGeom>
          <a:solidFill>
            <a:srgbClr val="10202A"/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" y="22585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1417320" y="1975104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5933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0134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4335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8536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2737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6938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1139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5340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9541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3742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7943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49324" y="2048256"/>
            <a:ext cx="2462022" cy="603504"/>
          </a:xfrm>
          <a:prstGeom prst="rect">
            <a:avLst/>
          </a:prstGeom>
          <a:solidFill>
            <a:srgbClr val="10202A">
              <a:alpha val="92000"/>
            </a:srgbClr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04188" y="2084832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770" dirty="0"/>
          </a:p>
        </p:txBody>
      </p:sp>
      <p:sp>
        <p:nvSpPr>
          <p:cNvPr id="64" name="Shape 62"/>
          <p:cNvSpPr/>
          <p:nvPr/>
        </p:nvSpPr>
        <p:spPr>
          <a:xfrm>
            <a:off x="3975354" y="2048256"/>
            <a:ext cx="2462022" cy="603504"/>
          </a:xfrm>
          <a:prstGeom prst="rect">
            <a:avLst/>
          </a:prstGeom>
          <a:solidFill>
            <a:srgbClr val="10202A">
              <a:alpha val="92000"/>
            </a:srgbClr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30218" y="2084832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pilots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6501384" y="2048256"/>
            <a:ext cx="2462022" cy="603504"/>
          </a:xfrm>
          <a:prstGeom prst="rect">
            <a:avLst/>
          </a:prstGeom>
          <a:solidFill>
            <a:srgbClr val="10202A">
              <a:alpha val="92000"/>
            </a:srgbClr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6248" y="2084832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proof</a:t>
            </a:r>
            <a:endParaRPr lang="en-US" sz="770" dirty="0"/>
          </a:p>
        </p:txBody>
      </p:sp>
      <p:sp>
        <p:nvSpPr>
          <p:cNvPr id="68" name="Shape 66"/>
          <p:cNvSpPr/>
          <p:nvPr/>
        </p:nvSpPr>
        <p:spPr>
          <a:xfrm>
            <a:off x="9027414" y="2048256"/>
            <a:ext cx="2462022" cy="603504"/>
          </a:xfrm>
          <a:prstGeom prst="rect">
            <a:avLst/>
          </a:prstGeom>
          <a:solidFill>
            <a:srgbClr val="10202A">
              <a:alpha val="92000"/>
            </a:srgbClr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82278" y="2084832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Fundable scale</a:t>
            </a:r>
            <a:endParaRPr lang="en-US" sz="770" dirty="0"/>
          </a:p>
        </p:txBody>
      </p:sp>
      <p:sp>
        <p:nvSpPr>
          <p:cNvPr id="70" name="Shape 68"/>
          <p:cNvSpPr/>
          <p:nvPr/>
        </p:nvSpPr>
        <p:spPr>
          <a:xfrm>
            <a:off x="566928" y="2724912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6928" y="2724912"/>
            <a:ext cx="73152" cy="74980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6656" y="3008376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1417320" y="2724912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25933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0134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94335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8536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2737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6938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1139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5340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9541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83742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67943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49324" y="2798064"/>
            <a:ext cx="162001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4188" y="2834640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+ Twilio</a:t>
            </a:r>
            <a:endParaRPr lang="en-US" sz="770" dirty="0"/>
          </a:p>
        </p:txBody>
      </p:sp>
      <p:sp>
        <p:nvSpPr>
          <p:cNvPr id="87" name="Shape 85"/>
          <p:cNvSpPr/>
          <p:nvPr/>
        </p:nvSpPr>
        <p:spPr>
          <a:xfrm>
            <a:off x="3133344" y="2798064"/>
            <a:ext cx="77800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88208" y="2834640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770" dirty="0"/>
          </a:p>
        </p:txBody>
      </p:sp>
      <p:sp>
        <p:nvSpPr>
          <p:cNvPr id="89" name="Shape 87"/>
          <p:cNvSpPr/>
          <p:nvPr/>
        </p:nvSpPr>
        <p:spPr>
          <a:xfrm>
            <a:off x="3975354" y="2798064"/>
            <a:ext cx="162001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030218" y="2834640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Multi-tenant</a:t>
            </a:r>
            <a:endParaRPr lang="en-US" sz="770" dirty="0"/>
          </a:p>
        </p:txBody>
      </p:sp>
      <p:sp>
        <p:nvSpPr>
          <p:cNvPr id="91" name="Shape 89"/>
          <p:cNvSpPr/>
          <p:nvPr/>
        </p:nvSpPr>
        <p:spPr>
          <a:xfrm>
            <a:off x="5659374" y="2798064"/>
            <a:ext cx="162001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714238" y="2834640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KVKK + DPA</a:t>
            </a:r>
            <a:endParaRPr lang="en-US" sz="770" dirty="0"/>
          </a:p>
        </p:txBody>
      </p:sp>
      <p:sp>
        <p:nvSpPr>
          <p:cNvPr id="93" name="Shape 91"/>
          <p:cNvSpPr/>
          <p:nvPr/>
        </p:nvSpPr>
        <p:spPr>
          <a:xfrm>
            <a:off x="7343394" y="2798064"/>
            <a:ext cx="162001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98258" y="2834640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EHR/HIS</a:t>
            </a:r>
            <a:endParaRPr lang="en-US" sz="770" dirty="0"/>
          </a:p>
        </p:txBody>
      </p:sp>
      <p:sp>
        <p:nvSpPr>
          <p:cNvPr id="95" name="Shape 93"/>
          <p:cNvSpPr/>
          <p:nvPr/>
        </p:nvSpPr>
        <p:spPr>
          <a:xfrm>
            <a:off x="9027414" y="2798064"/>
            <a:ext cx="246202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082278" y="2834640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+ ISO</a:t>
            </a:r>
            <a:endParaRPr lang="en-US" sz="770" dirty="0"/>
          </a:p>
        </p:txBody>
      </p:sp>
      <p:sp>
        <p:nvSpPr>
          <p:cNvPr id="97" name="Shape 95"/>
          <p:cNvSpPr/>
          <p:nvPr/>
        </p:nvSpPr>
        <p:spPr>
          <a:xfrm>
            <a:off x="566928" y="3474720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66928" y="3474720"/>
            <a:ext cx="73152" cy="74980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6656" y="3758184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720" dirty="0"/>
          </a:p>
        </p:txBody>
      </p:sp>
      <p:sp>
        <p:nvSpPr>
          <p:cNvPr id="100" name="Shape 98"/>
          <p:cNvSpPr/>
          <p:nvPr/>
        </p:nvSpPr>
        <p:spPr>
          <a:xfrm>
            <a:off x="1417320" y="3474720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25933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0134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94335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8536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62737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46938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1139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15340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99541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83742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67943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449324" y="3547872"/>
            <a:ext cx="77800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504188" y="3584448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 + 200</a:t>
            </a:r>
            <a:endParaRPr lang="en-US" sz="770" dirty="0"/>
          </a:p>
        </p:txBody>
      </p:sp>
      <p:sp>
        <p:nvSpPr>
          <p:cNvPr id="114" name="Shape 112"/>
          <p:cNvSpPr/>
          <p:nvPr/>
        </p:nvSpPr>
        <p:spPr>
          <a:xfrm>
            <a:off x="2291334" y="3547872"/>
            <a:ext cx="77800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346198" y="3584448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discovery</a:t>
            </a:r>
            <a:endParaRPr lang="en-US" sz="770" dirty="0"/>
          </a:p>
        </p:txBody>
      </p:sp>
      <p:sp>
        <p:nvSpPr>
          <p:cNvPr id="116" name="Shape 114"/>
          <p:cNvSpPr/>
          <p:nvPr/>
        </p:nvSpPr>
        <p:spPr>
          <a:xfrm>
            <a:off x="3133344" y="3547872"/>
            <a:ext cx="162001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188208" y="3584448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pilots</a:t>
            </a:r>
            <a:endParaRPr lang="en-US" sz="770" dirty="0"/>
          </a:p>
        </p:txBody>
      </p:sp>
      <p:sp>
        <p:nvSpPr>
          <p:cNvPr id="118" name="Shape 116"/>
          <p:cNvSpPr/>
          <p:nvPr/>
        </p:nvSpPr>
        <p:spPr>
          <a:xfrm>
            <a:off x="4817364" y="3547872"/>
            <a:ext cx="162001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872228" y="3584448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customers</a:t>
            </a:r>
            <a:endParaRPr lang="en-US" sz="770" dirty="0"/>
          </a:p>
        </p:txBody>
      </p:sp>
      <p:sp>
        <p:nvSpPr>
          <p:cNvPr id="120" name="Shape 118"/>
          <p:cNvSpPr/>
          <p:nvPr/>
        </p:nvSpPr>
        <p:spPr>
          <a:xfrm>
            <a:off x="6501384" y="3547872"/>
            <a:ext cx="246202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556248" y="3584448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</a:t>
            </a:r>
            <a:endParaRPr lang="en-US" sz="770" dirty="0"/>
          </a:p>
        </p:txBody>
      </p:sp>
      <p:sp>
        <p:nvSpPr>
          <p:cNvPr id="122" name="Shape 120"/>
          <p:cNvSpPr/>
          <p:nvPr/>
        </p:nvSpPr>
        <p:spPr>
          <a:xfrm>
            <a:off x="9027414" y="3547872"/>
            <a:ext cx="246202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082278" y="3584448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150K</a:t>
            </a:r>
            <a:endParaRPr lang="en-US" sz="770" dirty="0"/>
          </a:p>
        </p:txBody>
      </p:sp>
      <p:sp>
        <p:nvSpPr>
          <p:cNvPr id="124" name="Shape 122"/>
          <p:cNvSpPr/>
          <p:nvPr/>
        </p:nvSpPr>
        <p:spPr>
          <a:xfrm>
            <a:off x="566928" y="4224528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6928" y="4224528"/>
            <a:ext cx="73152" cy="749808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76656" y="450799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20" dirty="0"/>
          </a:p>
        </p:txBody>
      </p:sp>
      <p:sp>
        <p:nvSpPr>
          <p:cNvPr id="127" name="Shape 125"/>
          <p:cNvSpPr/>
          <p:nvPr/>
        </p:nvSpPr>
        <p:spPr>
          <a:xfrm>
            <a:off x="1417320" y="4224528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25933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10134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94335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8536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62737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46938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31139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15340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99541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83742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7943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291334" y="4297680"/>
            <a:ext cx="77800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346198" y="4334256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770" dirty="0"/>
          </a:p>
        </p:txBody>
      </p:sp>
      <p:sp>
        <p:nvSpPr>
          <p:cNvPr id="141" name="Shape 139"/>
          <p:cNvSpPr/>
          <p:nvPr/>
        </p:nvSpPr>
        <p:spPr>
          <a:xfrm>
            <a:off x="3975354" y="4297680"/>
            <a:ext cx="77800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030218" y="4334256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ML/AI + CS</a:t>
            </a:r>
            <a:endParaRPr lang="en-US" sz="770" dirty="0"/>
          </a:p>
        </p:txBody>
      </p:sp>
      <p:sp>
        <p:nvSpPr>
          <p:cNvPr id="143" name="Shape 141"/>
          <p:cNvSpPr/>
          <p:nvPr/>
        </p:nvSpPr>
        <p:spPr>
          <a:xfrm>
            <a:off x="5659374" y="4297680"/>
            <a:ext cx="162001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714238" y="4334256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SOPs</a:t>
            </a:r>
            <a:endParaRPr lang="en-US" sz="770" dirty="0"/>
          </a:p>
        </p:txBody>
      </p:sp>
      <p:sp>
        <p:nvSpPr>
          <p:cNvPr id="145" name="Shape 143"/>
          <p:cNvSpPr/>
          <p:nvPr/>
        </p:nvSpPr>
        <p:spPr>
          <a:xfrm>
            <a:off x="8185404" y="4297680"/>
            <a:ext cx="77800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240268" y="4334256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770" dirty="0"/>
          </a:p>
        </p:txBody>
      </p:sp>
      <p:sp>
        <p:nvSpPr>
          <p:cNvPr id="147" name="Shape 145"/>
          <p:cNvSpPr/>
          <p:nvPr/>
        </p:nvSpPr>
        <p:spPr>
          <a:xfrm>
            <a:off x="9869424" y="4297680"/>
            <a:ext cx="162001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924288" y="4334256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core</a:t>
            </a:r>
            <a:endParaRPr lang="en-US" sz="770" dirty="0"/>
          </a:p>
        </p:txBody>
      </p:sp>
      <p:sp>
        <p:nvSpPr>
          <p:cNvPr id="149" name="Shape 147"/>
          <p:cNvSpPr/>
          <p:nvPr/>
        </p:nvSpPr>
        <p:spPr>
          <a:xfrm>
            <a:off x="566928" y="4974336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66928" y="4974336"/>
            <a:ext cx="73152" cy="74980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76656" y="525780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</a:t>
            </a:r>
            <a:endParaRPr lang="en-US" sz="720" dirty="0"/>
          </a:p>
        </p:txBody>
      </p:sp>
      <p:sp>
        <p:nvSpPr>
          <p:cNvPr id="152" name="Shape 150"/>
          <p:cNvSpPr/>
          <p:nvPr/>
        </p:nvSpPr>
        <p:spPr>
          <a:xfrm>
            <a:off x="1417320" y="4974336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25933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10134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94335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78536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62737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6938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31139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15340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99541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83742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7943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133344" y="5047488"/>
            <a:ext cx="77800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188208" y="5084064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</a:t>
            </a:r>
            <a:endParaRPr lang="en-US" sz="770" dirty="0"/>
          </a:p>
        </p:txBody>
      </p:sp>
      <p:sp>
        <p:nvSpPr>
          <p:cNvPr id="166" name="Shape 164"/>
          <p:cNvSpPr/>
          <p:nvPr/>
        </p:nvSpPr>
        <p:spPr>
          <a:xfrm>
            <a:off x="3975354" y="5047488"/>
            <a:ext cx="77800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030218" y="5084064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VERBIS</a:t>
            </a:r>
            <a:endParaRPr lang="en-US" sz="770" dirty="0"/>
          </a:p>
        </p:txBody>
      </p:sp>
      <p:sp>
        <p:nvSpPr>
          <p:cNvPr id="168" name="Shape 166"/>
          <p:cNvSpPr/>
          <p:nvPr/>
        </p:nvSpPr>
        <p:spPr>
          <a:xfrm>
            <a:off x="7343394" y="5047488"/>
            <a:ext cx="162001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398258" y="5084064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70" dirty="0"/>
          </a:p>
        </p:txBody>
      </p:sp>
      <p:sp>
        <p:nvSpPr>
          <p:cNvPr id="170" name="Shape 168"/>
          <p:cNvSpPr/>
          <p:nvPr/>
        </p:nvSpPr>
        <p:spPr>
          <a:xfrm>
            <a:off x="9027414" y="5047488"/>
            <a:ext cx="162001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082278" y="5084064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start</a:t>
            </a:r>
            <a:endParaRPr lang="en-US" sz="770" dirty="0"/>
          </a:p>
        </p:txBody>
      </p:sp>
      <p:sp>
        <p:nvSpPr>
          <p:cNvPr id="172" name="Shape 170"/>
          <p:cNvSpPr/>
          <p:nvPr/>
        </p:nvSpPr>
        <p:spPr>
          <a:xfrm>
            <a:off x="10711434" y="5047488"/>
            <a:ext cx="77800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0766298" y="5084064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</a:t>
            </a:r>
            <a:endParaRPr lang="en-US" sz="770" dirty="0"/>
          </a:p>
        </p:txBody>
      </p:sp>
      <p:sp>
        <p:nvSpPr>
          <p:cNvPr id="174" name="Text 172"/>
          <p:cNvSpPr/>
          <p:nvPr/>
        </p:nvSpPr>
        <p:spPr>
          <a:xfrm>
            <a:off x="594360" y="58978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gates</a:t>
            </a:r>
            <a:endParaRPr lang="en-US" sz="1050" dirty="0"/>
          </a:p>
        </p:txBody>
      </p:sp>
      <p:sp>
        <p:nvSpPr>
          <p:cNvPr id="175" name="Shape 173"/>
          <p:cNvSpPr/>
          <p:nvPr/>
        </p:nvSpPr>
        <p:spPr>
          <a:xfrm>
            <a:off x="3440049" y="5916168"/>
            <a:ext cx="164592" cy="164592"/>
          </a:xfrm>
          <a:prstGeom prst="diamond">
            <a:avLst/>
          </a:prstGeom>
          <a:solidFill>
            <a:srgbClr val="C9871B"/>
          </a:solidFill>
          <a:ln w="12700">
            <a:solidFill>
              <a:srgbClr val="C9871B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019425" y="61264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hibe</a:t>
            </a:r>
            <a:endParaRPr lang="en-US" sz="740" dirty="0"/>
          </a:p>
        </p:txBody>
      </p:sp>
      <p:sp>
        <p:nvSpPr>
          <p:cNvPr id="177" name="Shape 175"/>
          <p:cNvSpPr/>
          <p:nvPr/>
        </p:nvSpPr>
        <p:spPr>
          <a:xfrm>
            <a:off x="5966079" y="5916168"/>
            <a:ext cx="164592" cy="164592"/>
          </a:xfrm>
          <a:prstGeom prst="diamond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545455" y="61264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müşteri</a:t>
            </a:r>
            <a:endParaRPr lang="en-US" sz="740" dirty="0"/>
          </a:p>
        </p:txBody>
      </p:sp>
      <p:sp>
        <p:nvSpPr>
          <p:cNvPr id="179" name="Shape 177"/>
          <p:cNvSpPr/>
          <p:nvPr/>
        </p:nvSpPr>
        <p:spPr>
          <a:xfrm>
            <a:off x="8492109" y="5916168"/>
            <a:ext cx="164592" cy="164592"/>
          </a:xfrm>
          <a:prstGeom prst="diamond">
            <a:avLst/>
          </a:prstGeom>
          <a:solidFill>
            <a:srgbClr val="0E7C73"/>
          </a:solidFill>
          <a:ln w="12700">
            <a:solidFill>
              <a:srgbClr val="0E7C73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8071485" y="61264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 + partner</a:t>
            </a:r>
            <a:endParaRPr lang="en-US" sz="740" dirty="0"/>
          </a:p>
        </p:txBody>
      </p:sp>
      <p:sp>
        <p:nvSpPr>
          <p:cNvPr id="181" name="Shape 179"/>
          <p:cNvSpPr/>
          <p:nvPr/>
        </p:nvSpPr>
        <p:spPr>
          <a:xfrm>
            <a:off x="11018139" y="5916168"/>
            <a:ext cx="164592" cy="164592"/>
          </a:xfrm>
          <a:prstGeom prst="diamond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0597515" y="61264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150K ARR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Riskler baştan yönetilecek şekilde roadmap'e gömüldü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Sağlık dikeyinde asıl fark, hız kadar güven ve operasyon disipliniyle gelir.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627632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27632"/>
            <a:ext cx="91440" cy="566928"/>
          </a:xfrm>
          <a:prstGeom prst="rect">
            <a:avLst/>
          </a:prstGeom>
          <a:solidFill>
            <a:srgbClr val="B5473B"/>
          </a:solidFill>
          <a:ln w="9525">
            <a:solidFill>
              <a:srgbClr val="B547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7393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Medikal yanlış yönlendirme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77640" y="1773936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Mode, doktor onayı, triage policy gate, audit log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85800" y="23774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377440"/>
            <a:ext cx="91440" cy="56692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2374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KVKK / hasta verisi riski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77640" y="2523744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VERBIS, DPA, RBAC, şifreli saklama, Türkiye sunucu stratejisi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85800" y="3127248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127248"/>
            <a:ext cx="91440" cy="56692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7355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Klinik adoptasyonu düşük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77640" y="3273552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Resepsiyonisti değil güçlendiren onboarding; ilk ay insan denetimli geçiş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85800" y="387705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77056"/>
            <a:ext cx="91440" cy="56692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2336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 ve satış döngüsü uzar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77640" y="402336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ICP, bölgesel saha satışı, channel partner ve case study motoru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85800" y="4626864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626864"/>
            <a:ext cx="91440" cy="566928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77316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maliyeti artar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77640" y="477316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model optimizasyonu, caching, prompt policy, usage monitoring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85800" y="5596128"/>
            <a:ext cx="10789920" cy="530352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5779008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cadence: weekly product/ops review, monthly KPI report, quarterly investor-readiness checkpoint.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ay sonunda hedef tablo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DE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Roadmap, tek bir sonuca çalışır: Türkiye sağlık dikeyinde güvenilir, ödeme yapan ve yatırım alabilir bir AI intake platformu.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9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5054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ödeme yapan klinik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25112" y="197510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139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150K EUR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26280" y="25054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 run-rate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936992" y="197510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139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38160" y="25054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case study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13232" y="330098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655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383133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team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325112" y="330098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655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EUR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26280" y="383133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 kapanışı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" y="5029200"/>
            <a:ext cx="10789920" cy="786384"/>
          </a:xfrm>
          <a:prstGeom prst="rect">
            <a:avLst/>
          </a:prstGeom>
          <a:solidFill>
            <a:srgbClr val="132631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303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link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51937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 1 klinik beachhead kanıtlanınca aynı altyapı göz, psikolog, fizyoterapi, veteriner ve zincir/kurumsal kliniklere genişletilir.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6327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C7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 | BiGG Masters 2026-1 | Deliverable 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CogniVault Medical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CogniVault Medical AI - Deliverable 2 Roadmap</dc:title>
  <dc:subject>BiGG Masters 2026-1 Deliverable 2 Roadmap</dc:subject>
  <dc:creator>CogniVault Medical AI</dc:creator>
  <cp:lastModifiedBy>CogniVault Medical AI</cp:lastModifiedBy>
  <cp:revision>1</cp:revision>
  <dcterms:created xsi:type="dcterms:W3CDTF">2026-05-23T14:56:09Z</dcterms:created>
  <dcterms:modified xsi:type="dcterms:W3CDTF">2026-05-23T14:56:09Z</dcterms:modified>
</cp:coreProperties>
</file>